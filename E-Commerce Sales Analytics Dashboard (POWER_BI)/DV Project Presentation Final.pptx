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  <p:embeddedFont>
      <p:font typeface="Poppins Bold Italics" panose="020B0604020202020204" charset="0"/>
      <p:regular r:id="rId20"/>
    </p:embeddedFont>
    <p:embeddedFont>
      <p:font typeface="Poppins Italics" panose="020B0604020202020204" charset="0"/>
      <p:regular r:id="rId21"/>
    </p:embeddedFont>
    <p:embeddedFont>
      <p:font typeface="Poppins Light" panose="00000400000000000000" pitchFamily="2" charset="0"/>
      <p:regular r:id="rId22"/>
    </p:embeddedFont>
    <p:embeddedFont>
      <p:font typeface="Poppins Light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22" autoAdjust="0"/>
  </p:normalViewPr>
  <p:slideViewPr>
    <p:cSldViewPr>
      <p:cViewPr varScale="1">
        <p:scale>
          <a:sx n="39" d="100"/>
          <a:sy n="39" d="100"/>
        </p:scale>
        <p:origin x="9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BE3E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6377" y="-241490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56394" y="5815449"/>
            <a:ext cx="9530712" cy="14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61"/>
              </a:lnSpc>
            </a:pPr>
            <a:r>
              <a:rPr lang="en-US" sz="8186" spc="-286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E-Commerce Sales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6394" y="6663308"/>
            <a:ext cx="12442669" cy="152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9"/>
              </a:lnSpc>
            </a:pPr>
            <a:r>
              <a:rPr lang="en-US" sz="8363" spc="-29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Dashbaord Presentation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8184204"/>
            <a:ext cx="10850762" cy="623347"/>
            <a:chOff x="0" y="0"/>
            <a:chExt cx="1558772" cy="895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8772" cy="89547"/>
            </a:xfrm>
            <a:custGeom>
              <a:avLst/>
              <a:gdLst/>
              <a:ahLst/>
              <a:cxnLst/>
              <a:rect l="l" t="t" r="r" b="b"/>
              <a:pathLst>
                <a:path w="1558772" h="89547">
                  <a:moveTo>
                    <a:pt x="36388" y="0"/>
                  </a:moveTo>
                  <a:lnTo>
                    <a:pt x="1522384" y="0"/>
                  </a:lnTo>
                  <a:cubicBezTo>
                    <a:pt x="1532035" y="0"/>
                    <a:pt x="1541290" y="3834"/>
                    <a:pt x="1548114" y="10658"/>
                  </a:cubicBezTo>
                  <a:cubicBezTo>
                    <a:pt x="1554938" y="17482"/>
                    <a:pt x="1558772" y="26737"/>
                    <a:pt x="1558772" y="36388"/>
                  </a:cubicBezTo>
                  <a:lnTo>
                    <a:pt x="1558772" y="53159"/>
                  </a:lnTo>
                  <a:cubicBezTo>
                    <a:pt x="1558772" y="62810"/>
                    <a:pt x="1554938" y="72065"/>
                    <a:pt x="1548114" y="78889"/>
                  </a:cubicBezTo>
                  <a:cubicBezTo>
                    <a:pt x="1541290" y="85714"/>
                    <a:pt x="1532035" y="89547"/>
                    <a:pt x="1522384" y="89547"/>
                  </a:cubicBezTo>
                  <a:lnTo>
                    <a:pt x="36388" y="89547"/>
                  </a:lnTo>
                  <a:cubicBezTo>
                    <a:pt x="26737" y="89547"/>
                    <a:pt x="17482" y="85714"/>
                    <a:pt x="10658" y="78889"/>
                  </a:cubicBezTo>
                  <a:cubicBezTo>
                    <a:pt x="3834" y="72065"/>
                    <a:pt x="0" y="62810"/>
                    <a:pt x="0" y="53159"/>
                  </a:cubicBezTo>
                  <a:lnTo>
                    <a:pt x="0" y="36388"/>
                  </a:lnTo>
                  <a:cubicBezTo>
                    <a:pt x="0" y="26737"/>
                    <a:pt x="3834" y="17482"/>
                    <a:pt x="10658" y="10658"/>
                  </a:cubicBezTo>
                  <a:cubicBezTo>
                    <a:pt x="17482" y="3834"/>
                    <a:pt x="26737" y="0"/>
                    <a:pt x="363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4500"/>
                  </a:srgbClr>
                </a:gs>
                <a:gs pos="100000">
                  <a:srgbClr val="FFFEFF">
                    <a:alpha val="65000"/>
                  </a:srgbClr>
                </a:gs>
              </a:gsLst>
              <a:lin ang="0"/>
            </a:gra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558772" cy="156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13784" y="8217895"/>
            <a:ext cx="10344084" cy="460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418" spc="-87">
                <a:solidFill>
                  <a:srgbClr val="343434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Presented By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63626" y="8217895"/>
            <a:ext cx="8460651" cy="460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418" b="1" spc="-87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Sanaullah Tareen, M. Mansoor Khan and Aitsam Zulfiqar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775476" y="269211"/>
            <a:ext cx="5254514" cy="6510181"/>
            <a:chOff x="0" y="0"/>
            <a:chExt cx="1421481" cy="17611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21481" cy="1761171"/>
            </a:xfrm>
            <a:custGeom>
              <a:avLst/>
              <a:gdLst/>
              <a:ahLst/>
              <a:cxnLst/>
              <a:rect l="l" t="t" r="r" b="b"/>
              <a:pathLst>
                <a:path w="1421481" h="1761171">
                  <a:moveTo>
                    <a:pt x="83983" y="0"/>
                  </a:moveTo>
                  <a:lnTo>
                    <a:pt x="1337498" y="0"/>
                  </a:lnTo>
                  <a:cubicBezTo>
                    <a:pt x="1383881" y="0"/>
                    <a:pt x="1421481" y="37600"/>
                    <a:pt x="1421481" y="83983"/>
                  </a:cubicBezTo>
                  <a:lnTo>
                    <a:pt x="1421481" y="1677189"/>
                  </a:lnTo>
                  <a:cubicBezTo>
                    <a:pt x="1421481" y="1699462"/>
                    <a:pt x="1412633" y="1720823"/>
                    <a:pt x="1396883" y="1736573"/>
                  </a:cubicBezTo>
                  <a:cubicBezTo>
                    <a:pt x="1381133" y="1752323"/>
                    <a:pt x="1359772" y="1761171"/>
                    <a:pt x="1337498" y="1761171"/>
                  </a:cubicBezTo>
                  <a:lnTo>
                    <a:pt x="83983" y="1761171"/>
                  </a:lnTo>
                  <a:cubicBezTo>
                    <a:pt x="37600" y="1761171"/>
                    <a:pt x="0" y="1723571"/>
                    <a:pt x="0" y="1677189"/>
                  </a:cubicBezTo>
                  <a:lnTo>
                    <a:pt x="0" y="83983"/>
                  </a:lnTo>
                  <a:cubicBezTo>
                    <a:pt x="0" y="37600"/>
                    <a:pt x="37600" y="0"/>
                    <a:pt x="83983" y="0"/>
                  </a:cubicBezTo>
                  <a:close/>
                </a:path>
              </a:pathLst>
            </a:custGeom>
            <a:blipFill>
              <a:blip r:embed="rId2"/>
              <a:stretch>
                <a:fillRect l="-48919" r="-48919"/>
              </a:stretch>
            </a:blip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695403" y="406080"/>
            <a:ext cx="1064004" cy="278581"/>
            <a:chOff x="0" y="0"/>
            <a:chExt cx="341693" cy="894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1693" cy="89463"/>
            </a:xfrm>
            <a:custGeom>
              <a:avLst/>
              <a:gdLst/>
              <a:ahLst/>
              <a:cxnLst/>
              <a:rect l="l" t="t" r="r" b="b"/>
              <a:pathLst>
                <a:path w="341693" h="89463">
                  <a:moveTo>
                    <a:pt x="44732" y="0"/>
                  </a:moveTo>
                  <a:lnTo>
                    <a:pt x="296962" y="0"/>
                  </a:lnTo>
                  <a:cubicBezTo>
                    <a:pt x="321666" y="0"/>
                    <a:pt x="341693" y="20027"/>
                    <a:pt x="341693" y="44732"/>
                  </a:cubicBezTo>
                  <a:lnTo>
                    <a:pt x="341693" y="44732"/>
                  </a:lnTo>
                  <a:cubicBezTo>
                    <a:pt x="341693" y="69436"/>
                    <a:pt x="321666" y="89463"/>
                    <a:pt x="296962" y="89463"/>
                  </a:cubicBezTo>
                  <a:lnTo>
                    <a:pt x="44732" y="89463"/>
                  </a:lnTo>
                  <a:cubicBezTo>
                    <a:pt x="20027" y="89463"/>
                    <a:pt x="0" y="69436"/>
                    <a:pt x="0" y="44732"/>
                  </a:cubicBezTo>
                  <a:lnTo>
                    <a:pt x="0" y="44732"/>
                  </a:lnTo>
                  <a:cubicBezTo>
                    <a:pt x="0" y="20027"/>
                    <a:pt x="20027" y="0"/>
                    <a:pt x="447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4500"/>
                  </a:srgbClr>
                </a:gs>
                <a:gs pos="100000">
                  <a:srgbClr val="FFFEFF">
                    <a:alpha val="65000"/>
                  </a:srgbClr>
                </a:gs>
              </a:gsLst>
              <a:lin ang="0"/>
            </a:gradFill>
            <a:ln w="9525" cap="rnd">
              <a:solidFill>
                <a:srgbClr val="28328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341693" cy="156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695403" y="424842"/>
            <a:ext cx="1064004" cy="2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4"/>
              </a:lnSpc>
            </a:pPr>
            <a:r>
              <a:rPr lang="en-US" sz="1081" b="1" spc="-3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2026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56394" y="352223"/>
            <a:ext cx="5456114" cy="676477"/>
            <a:chOff x="0" y="0"/>
            <a:chExt cx="1263596" cy="1566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63596" cy="156667"/>
            </a:xfrm>
            <a:custGeom>
              <a:avLst/>
              <a:gdLst/>
              <a:ahLst/>
              <a:cxnLst/>
              <a:rect l="l" t="t" r="r" b="b"/>
              <a:pathLst>
                <a:path w="1263596" h="156667">
                  <a:moveTo>
                    <a:pt x="72366" y="0"/>
                  </a:moveTo>
                  <a:lnTo>
                    <a:pt x="1191230" y="0"/>
                  </a:lnTo>
                  <a:cubicBezTo>
                    <a:pt x="1210422" y="0"/>
                    <a:pt x="1228829" y="7624"/>
                    <a:pt x="1242400" y="21196"/>
                  </a:cubicBezTo>
                  <a:cubicBezTo>
                    <a:pt x="1255971" y="34767"/>
                    <a:pt x="1263596" y="53173"/>
                    <a:pt x="1263596" y="72366"/>
                  </a:cubicBezTo>
                  <a:lnTo>
                    <a:pt x="1263596" y="84301"/>
                  </a:lnTo>
                  <a:cubicBezTo>
                    <a:pt x="1263596" y="103494"/>
                    <a:pt x="1255971" y="121900"/>
                    <a:pt x="1242400" y="135472"/>
                  </a:cubicBezTo>
                  <a:cubicBezTo>
                    <a:pt x="1228829" y="149043"/>
                    <a:pt x="1210422" y="156667"/>
                    <a:pt x="1191230" y="156667"/>
                  </a:cubicBezTo>
                  <a:lnTo>
                    <a:pt x="72366" y="156667"/>
                  </a:lnTo>
                  <a:cubicBezTo>
                    <a:pt x="53173" y="156667"/>
                    <a:pt x="34767" y="149043"/>
                    <a:pt x="21196" y="135472"/>
                  </a:cubicBezTo>
                  <a:cubicBezTo>
                    <a:pt x="7624" y="121900"/>
                    <a:pt x="0" y="103494"/>
                    <a:pt x="0" y="84301"/>
                  </a:cubicBezTo>
                  <a:lnTo>
                    <a:pt x="0" y="72366"/>
                  </a:lnTo>
                  <a:cubicBezTo>
                    <a:pt x="0" y="53173"/>
                    <a:pt x="7624" y="34767"/>
                    <a:pt x="21196" y="21196"/>
                  </a:cubicBezTo>
                  <a:cubicBezTo>
                    <a:pt x="34767" y="7624"/>
                    <a:pt x="53173" y="0"/>
                    <a:pt x="72366" y="0"/>
                  </a:cubicBezTo>
                  <a:close/>
                </a:path>
              </a:pathLst>
            </a:custGeom>
            <a:solidFill>
              <a:srgbClr val="28328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263596" cy="223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89896" y="436461"/>
            <a:ext cx="458910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spc="-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Visualization Lab Project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76992" y="-564681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3654" y="3373027"/>
            <a:ext cx="7980962" cy="989621"/>
            <a:chOff x="0" y="0"/>
            <a:chExt cx="2101982" cy="2606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3654" y="9002894"/>
            <a:ext cx="7980962" cy="989621"/>
            <a:chOff x="0" y="0"/>
            <a:chExt cx="2101982" cy="2606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3654" y="4499751"/>
            <a:ext cx="7980962" cy="989621"/>
            <a:chOff x="0" y="0"/>
            <a:chExt cx="2101982" cy="2606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98513" y="3373027"/>
            <a:ext cx="7980962" cy="989621"/>
            <a:chOff x="0" y="0"/>
            <a:chExt cx="2101982" cy="2606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417238" y="760596"/>
            <a:ext cx="1441436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500" b="1" spc="-54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1475" y="94774"/>
            <a:ext cx="5459907" cy="189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46"/>
              </a:lnSpc>
            </a:pPr>
            <a:r>
              <a:rPr lang="en-US" sz="10461" spc="-3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8352" y="3362061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6117" y="8991928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8352" y="4488785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00976" y="3362061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4210" y="1235923"/>
            <a:ext cx="8945868" cy="189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46"/>
              </a:lnSpc>
            </a:pPr>
            <a:r>
              <a:rPr lang="en-US" sz="10461" spc="-3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23654" y="5626475"/>
            <a:ext cx="7980962" cy="989621"/>
            <a:chOff x="0" y="0"/>
            <a:chExt cx="2101982" cy="26064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98513" y="4499751"/>
            <a:ext cx="7980962" cy="989621"/>
            <a:chOff x="0" y="0"/>
            <a:chExt cx="2101982" cy="26064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3654" y="6753199"/>
            <a:ext cx="7980962" cy="989621"/>
            <a:chOff x="0" y="0"/>
            <a:chExt cx="2101982" cy="26064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D9E73C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398513" y="5626475"/>
            <a:ext cx="7980962" cy="989621"/>
            <a:chOff x="0" y="0"/>
            <a:chExt cx="2101982" cy="26064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3654" y="7879923"/>
            <a:ext cx="7980962" cy="989621"/>
            <a:chOff x="0" y="0"/>
            <a:chExt cx="2101982" cy="26064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398513" y="6753199"/>
            <a:ext cx="7980962" cy="989621"/>
            <a:chOff x="0" y="0"/>
            <a:chExt cx="2101982" cy="26064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98352" y="5615508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800976" y="4488785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98352" y="6742232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800976" y="5615508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98352" y="7868956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00976" y="6742232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455091" y="3640508"/>
            <a:ext cx="573340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Title Slide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466074" y="9270375"/>
            <a:ext cx="589981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Methadology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455091" y="4767232"/>
            <a:ext cx="573340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940933" y="3640508"/>
            <a:ext cx="589981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Data Visualization and dashboard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455091" y="5893956"/>
            <a:ext cx="573340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940933" y="4767232"/>
            <a:ext cx="589981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and Findings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455091" y="7020680"/>
            <a:ext cx="573340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Overview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940933" y="5893956"/>
            <a:ext cx="589981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Impacts and Recommendations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455091" y="8147404"/>
            <a:ext cx="6080791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&amp; Processing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940933" y="7020680"/>
            <a:ext cx="589981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Tools and Technologies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9398513" y="7879923"/>
            <a:ext cx="7980962" cy="989621"/>
            <a:chOff x="0" y="0"/>
            <a:chExt cx="2101982" cy="260641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398513" y="9006647"/>
            <a:ext cx="7980962" cy="989621"/>
            <a:chOff x="0" y="0"/>
            <a:chExt cx="2101982" cy="260641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101982" cy="260641"/>
            </a:xfrm>
            <a:custGeom>
              <a:avLst/>
              <a:gdLst/>
              <a:ahLst/>
              <a:cxnLst/>
              <a:rect l="l" t="t" r="r" b="b"/>
              <a:pathLst>
                <a:path w="2101982" h="260641">
                  <a:moveTo>
                    <a:pt x="49472" y="0"/>
                  </a:moveTo>
                  <a:lnTo>
                    <a:pt x="2052509" y="0"/>
                  </a:lnTo>
                  <a:cubicBezTo>
                    <a:pt x="2065630" y="0"/>
                    <a:pt x="2078214" y="5212"/>
                    <a:pt x="2087492" y="14490"/>
                  </a:cubicBezTo>
                  <a:cubicBezTo>
                    <a:pt x="2096769" y="23768"/>
                    <a:pt x="2101982" y="36352"/>
                    <a:pt x="2101982" y="49472"/>
                  </a:cubicBezTo>
                  <a:lnTo>
                    <a:pt x="2101982" y="211169"/>
                  </a:lnTo>
                  <a:cubicBezTo>
                    <a:pt x="2101982" y="238491"/>
                    <a:pt x="2079832" y="260641"/>
                    <a:pt x="2052509" y="260641"/>
                  </a:cubicBezTo>
                  <a:lnTo>
                    <a:pt x="49472" y="260641"/>
                  </a:lnTo>
                  <a:cubicBezTo>
                    <a:pt x="22150" y="260641"/>
                    <a:pt x="0" y="238491"/>
                    <a:pt x="0" y="211169"/>
                  </a:cubicBezTo>
                  <a:lnTo>
                    <a:pt x="0" y="49472"/>
                  </a:lnTo>
                  <a:cubicBezTo>
                    <a:pt x="0" y="22150"/>
                    <a:pt x="22150" y="0"/>
                    <a:pt x="49472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66675"/>
              <a:ext cx="2101982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9800976" y="7868956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800976" y="8995680"/>
            <a:ext cx="113995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12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940933" y="8147404"/>
            <a:ext cx="589981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 Faced &amp; Technologies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940933" y="9274128"/>
            <a:ext cx="589981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b="1" spc="-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BE3E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90488" y="-448043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78438" y="5878589"/>
            <a:ext cx="4835798" cy="3854125"/>
            <a:chOff x="0" y="0"/>
            <a:chExt cx="1511894" cy="12049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11894" cy="1204978"/>
            </a:xfrm>
            <a:custGeom>
              <a:avLst/>
              <a:gdLst/>
              <a:ahLst/>
              <a:cxnLst/>
              <a:rect l="l" t="t" r="r" b="b"/>
              <a:pathLst>
                <a:path w="1511894" h="1204978">
                  <a:moveTo>
                    <a:pt x="104062" y="0"/>
                  </a:moveTo>
                  <a:lnTo>
                    <a:pt x="1407831" y="0"/>
                  </a:lnTo>
                  <a:cubicBezTo>
                    <a:pt x="1465303" y="0"/>
                    <a:pt x="1511894" y="46590"/>
                    <a:pt x="1511894" y="104062"/>
                  </a:cubicBezTo>
                  <a:lnTo>
                    <a:pt x="1511894" y="1100915"/>
                  </a:lnTo>
                  <a:cubicBezTo>
                    <a:pt x="1511894" y="1158387"/>
                    <a:pt x="1465303" y="1204978"/>
                    <a:pt x="1407831" y="1204978"/>
                  </a:cubicBezTo>
                  <a:lnTo>
                    <a:pt x="104062" y="1204978"/>
                  </a:lnTo>
                  <a:cubicBezTo>
                    <a:pt x="46590" y="1204978"/>
                    <a:pt x="0" y="1158387"/>
                    <a:pt x="0" y="1100915"/>
                  </a:cubicBezTo>
                  <a:lnTo>
                    <a:pt x="0" y="104062"/>
                  </a:lnTo>
                  <a:cubicBezTo>
                    <a:pt x="0" y="46590"/>
                    <a:pt x="46590" y="0"/>
                    <a:pt x="1040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511894" cy="127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31475" y="5878589"/>
            <a:ext cx="4814026" cy="3854125"/>
            <a:chOff x="0" y="0"/>
            <a:chExt cx="1505087" cy="12049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05087" cy="1204978"/>
            </a:xfrm>
            <a:custGeom>
              <a:avLst/>
              <a:gdLst/>
              <a:ahLst/>
              <a:cxnLst/>
              <a:rect l="l" t="t" r="r" b="b"/>
              <a:pathLst>
                <a:path w="1505087" h="1204978">
                  <a:moveTo>
                    <a:pt x="104533" y="0"/>
                  </a:moveTo>
                  <a:lnTo>
                    <a:pt x="1400554" y="0"/>
                  </a:lnTo>
                  <a:cubicBezTo>
                    <a:pt x="1428277" y="0"/>
                    <a:pt x="1454866" y="11013"/>
                    <a:pt x="1474470" y="30617"/>
                  </a:cubicBezTo>
                  <a:cubicBezTo>
                    <a:pt x="1494073" y="50221"/>
                    <a:pt x="1505087" y="76809"/>
                    <a:pt x="1505087" y="104533"/>
                  </a:cubicBezTo>
                  <a:lnTo>
                    <a:pt x="1505087" y="1100444"/>
                  </a:lnTo>
                  <a:cubicBezTo>
                    <a:pt x="1505087" y="1128168"/>
                    <a:pt x="1494073" y="1154757"/>
                    <a:pt x="1474470" y="1174360"/>
                  </a:cubicBezTo>
                  <a:cubicBezTo>
                    <a:pt x="1454866" y="1193964"/>
                    <a:pt x="1428277" y="1204978"/>
                    <a:pt x="1400554" y="1204978"/>
                  </a:cubicBezTo>
                  <a:lnTo>
                    <a:pt x="104533" y="1204978"/>
                  </a:lnTo>
                  <a:cubicBezTo>
                    <a:pt x="76809" y="1204978"/>
                    <a:pt x="50221" y="1193964"/>
                    <a:pt x="30617" y="1174360"/>
                  </a:cubicBezTo>
                  <a:cubicBezTo>
                    <a:pt x="11013" y="1154757"/>
                    <a:pt x="0" y="1128168"/>
                    <a:pt x="0" y="1100444"/>
                  </a:cubicBezTo>
                  <a:lnTo>
                    <a:pt x="0" y="104533"/>
                  </a:lnTo>
                  <a:cubicBezTo>
                    <a:pt x="0" y="76809"/>
                    <a:pt x="11013" y="50221"/>
                    <a:pt x="30617" y="30617"/>
                  </a:cubicBezTo>
                  <a:cubicBezTo>
                    <a:pt x="50221" y="11013"/>
                    <a:pt x="76809" y="0"/>
                    <a:pt x="104533" y="0"/>
                  </a:cubicBezTo>
                  <a:close/>
                </a:path>
              </a:pathLst>
            </a:custGeom>
            <a:solidFill>
              <a:srgbClr val="D9E73C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505087" cy="127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870910" y="6232810"/>
            <a:ext cx="1011913" cy="1011913"/>
          </a:xfrm>
          <a:custGeom>
            <a:avLst/>
            <a:gdLst/>
            <a:ahLst/>
            <a:cxnLst/>
            <a:rect l="l" t="t" r="r" b="b"/>
            <a:pathLst>
              <a:path w="1011913" h="1011913">
                <a:moveTo>
                  <a:pt x="0" y="0"/>
                </a:moveTo>
                <a:lnTo>
                  <a:pt x="1011913" y="0"/>
                </a:lnTo>
                <a:lnTo>
                  <a:pt x="1011913" y="1011914"/>
                </a:lnTo>
                <a:lnTo>
                  <a:pt x="0" y="10119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559334" y="7565773"/>
            <a:ext cx="3567056" cy="46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Delivery &amp; Satisfaction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715" y="7565773"/>
            <a:ext cx="3567056" cy="46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No Targeted Strategy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9334" y="8056152"/>
            <a:ext cx="4110142" cy="141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1863" i="1" spc="-6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Is late delivery causing returns? The relationship between delivery time and return rate was unknown and untracked.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48715" y="7979496"/>
            <a:ext cx="4137202" cy="141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1863" i="1" spc="-6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Without data-driven insights, marketing spend, inventory decisions, and regional strategies were made on guesswork rather than evidence.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78438" y="1824523"/>
            <a:ext cx="4835798" cy="3854125"/>
            <a:chOff x="0" y="0"/>
            <a:chExt cx="1511894" cy="12049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11894" cy="1204978"/>
            </a:xfrm>
            <a:custGeom>
              <a:avLst/>
              <a:gdLst/>
              <a:ahLst/>
              <a:cxnLst/>
              <a:rect l="l" t="t" r="r" b="b"/>
              <a:pathLst>
                <a:path w="1511894" h="1204978">
                  <a:moveTo>
                    <a:pt x="104062" y="0"/>
                  </a:moveTo>
                  <a:lnTo>
                    <a:pt x="1407831" y="0"/>
                  </a:lnTo>
                  <a:cubicBezTo>
                    <a:pt x="1465303" y="0"/>
                    <a:pt x="1511894" y="46590"/>
                    <a:pt x="1511894" y="104062"/>
                  </a:cubicBezTo>
                  <a:lnTo>
                    <a:pt x="1511894" y="1100915"/>
                  </a:lnTo>
                  <a:cubicBezTo>
                    <a:pt x="1511894" y="1158387"/>
                    <a:pt x="1465303" y="1204978"/>
                    <a:pt x="1407831" y="1204978"/>
                  </a:cubicBezTo>
                  <a:lnTo>
                    <a:pt x="104062" y="1204978"/>
                  </a:lnTo>
                  <a:cubicBezTo>
                    <a:pt x="46590" y="1204978"/>
                    <a:pt x="0" y="1158387"/>
                    <a:pt x="0" y="1100915"/>
                  </a:cubicBezTo>
                  <a:lnTo>
                    <a:pt x="0" y="104062"/>
                  </a:lnTo>
                  <a:cubicBezTo>
                    <a:pt x="0" y="46590"/>
                    <a:pt x="46590" y="0"/>
                    <a:pt x="1040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511894" cy="127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31475" y="1824523"/>
            <a:ext cx="4814026" cy="3854125"/>
            <a:chOff x="0" y="0"/>
            <a:chExt cx="1505087" cy="12049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05087" cy="1204978"/>
            </a:xfrm>
            <a:custGeom>
              <a:avLst/>
              <a:gdLst/>
              <a:ahLst/>
              <a:cxnLst/>
              <a:rect l="l" t="t" r="r" b="b"/>
              <a:pathLst>
                <a:path w="1505087" h="1204978">
                  <a:moveTo>
                    <a:pt x="104533" y="0"/>
                  </a:moveTo>
                  <a:lnTo>
                    <a:pt x="1400554" y="0"/>
                  </a:lnTo>
                  <a:cubicBezTo>
                    <a:pt x="1428277" y="0"/>
                    <a:pt x="1454866" y="11013"/>
                    <a:pt x="1474470" y="30617"/>
                  </a:cubicBezTo>
                  <a:cubicBezTo>
                    <a:pt x="1494073" y="50221"/>
                    <a:pt x="1505087" y="76809"/>
                    <a:pt x="1505087" y="104533"/>
                  </a:cubicBezTo>
                  <a:lnTo>
                    <a:pt x="1505087" y="1100444"/>
                  </a:lnTo>
                  <a:cubicBezTo>
                    <a:pt x="1505087" y="1128168"/>
                    <a:pt x="1494073" y="1154757"/>
                    <a:pt x="1474470" y="1174360"/>
                  </a:cubicBezTo>
                  <a:cubicBezTo>
                    <a:pt x="1454866" y="1193964"/>
                    <a:pt x="1428277" y="1204978"/>
                    <a:pt x="1400554" y="1204978"/>
                  </a:cubicBezTo>
                  <a:lnTo>
                    <a:pt x="104533" y="1204978"/>
                  </a:lnTo>
                  <a:cubicBezTo>
                    <a:pt x="76809" y="1204978"/>
                    <a:pt x="50221" y="1193964"/>
                    <a:pt x="30617" y="1174360"/>
                  </a:cubicBezTo>
                  <a:cubicBezTo>
                    <a:pt x="11013" y="1154757"/>
                    <a:pt x="0" y="1128168"/>
                    <a:pt x="0" y="1100444"/>
                  </a:cubicBezTo>
                  <a:lnTo>
                    <a:pt x="0" y="104533"/>
                  </a:lnTo>
                  <a:cubicBezTo>
                    <a:pt x="0" y="76809"/>
                    <a:pt x="11013" y="50221"/>
                    <a:pt x="30617" y="30617"/>
                  </a:cubicBezTo>
                  <a:cubicBezTo>
                    <a:pt x="50221" y="11013"/>
                    <a:pt x="76809" y="0"/>
                    <a:pt x="104533" y="0"/>
                  </a:cubicBezTo>
                  <a:close/>
                </a:path>
              </a:pathLst>
            </a:custGeom>
            <a:solidFill>
              <a:srgbClr val="D9E73C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505087" cy="127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59334" y="2095137"/>
            <a:ext cx="1099390" cy="1023184"/>
          </a:xfrm>
          <a:custGeom>
            <a:avLst/>
            <a:gdLst/>
            <a:ahLst/>
            <a:cxnLst/>
            <a:rect l="l" t="t" r="r" b="b"/>
            <a:pathLst>
              <a:path w="1099390" h="1023184">
                <a:moveTo>
                  <a:pt x="0" y="0"/>
                </a:moveTo>
                <a:lnTo>
                  <a:pt x="1099390" y="0"/>
                </a:lnTo>
                <a:lnTo>
                  <a:pt x="1099390" y="1023183"/>
                </a:lnTo>
                <a:lnTo>
                  <a:pt x="0" y="1023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509145" y="3214758"/>
            <a:ext cx="3567056" cy="46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High Return Rates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48715" y="3292182"/>
            <a:ext cx="3567056" cy="46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Unclear Profit Drivers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09145" y="3709424"/>
            <a:ext cx="4314424" cy="1764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1863" i="1" spc="-6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5.5% of all orders are returned. Without understanding why, the business keeps losing revenue on refunds, restocking, and lost customer trust.</a:t>
            </a:r>
          </a:p>
          <a:p>
            <a:pPr algn="l">
              <a:lnSpc>
                <a:spcPts val="2813"/>
              </a:lnSpc>
            </a:pPr>
            <a:endParaRPr lang="en-US" sz="1863" i="1" spc="-67">
              <a:solidFill>
                <a:srgbClr val="000000"/>
              </a:solidFill>
              <a:latin typeface="Poppins Light Italics"/>
              <a:ea typeface="Poppins Light Italics"/>
              <a:cs typeface="Poppins Light Italics"/>
              <a:sym typeface="Poppins Light Italic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870910" y="3709424"/>
            <a:ext cx="4115008" cy="141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1863" i="1" spc="-6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Sales are $6M but what drives profit? Which products, regions, and customer segments are actually profitable vs. drain resources?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1475" y="-71923"/>
            <a:ext cx="13447552" cy="189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46"/>
              </a:lnSpc>
            </a:pPr>
            <a:r>
              <a:rPr lang="en-US" sz="10461" spc="-366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id="29" name="Freeform 29"/>
          <p:cNvSpPr/>
          <p:nvPr/>
        </p:nvSpPr>
        <p:spPr>
          <a:xfrm>
            <a:off x="6848715" y="2095137"/>
            <a:ext cx="1016981" cy="1025328"/>
          </a:xfrm>
          <a:custGeom>
            <a:avLst/>
            <a:gdLst/>
            <a:ahLst/>
            <a:cxnLst/>
            <a:rect l="l" t="t" r="r" b="b"/>
            <a:pathLst>
              <a:path w="1016981" h="1025328">
                <a:moveTo>
                  <a:pt x="0" y="0"/>
                </a:moveTo>
                <a:lnTo>
                  <a:pt x="1016981" y="0"/>
                </a:lnTo>
                <a:lnTo>
                  <a:pt x="1016981" y="1025328"/>
                </a:lnTo>
                <a:lnTo>
                  <a:pt x="0" y="10253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581528" y="6321725"/>
            <a:ext cx="1119192" cy="922999"/>
          </a:xfrm>
          <a:custGeom>
            <a:avLst/>
            <a:gdLst/>
            <a:ahLst/>
            <a:cxnLst/>
            <a:rect l="l" t="t" r="r" b="b"/>
            <a:pathLst>
              <a:path w="1119192" h="922999">
                <a:moveTo>
                  <a:pt x="0" y="0"/>
                </a:moveTo>
                <a:lnTo>
                  <a:pt x="1119192" y="0"/>
                </a:lnTo>
                <a:lnTo>
                  <a:pt x="1119192" y="922999"/>
                </a:lnTo>
                <a:lnTo>
                  <a:pt x="0" y="9229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12768834" y="4992225"/>
            <a:ext cx="2453668" cy="853120"/>
            <a:chOff x="0" y="0"/>
            <a:chExt cx="350031" cy="12170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50031" cy="121703"/>
            </a:xfrm>
            <a:custGeom>
              <a:avLst/>
              <a:gdLst/>
              <a:ahLst/>
              <a:cxnLst/>
              <a:rect l="l" t="t" r="r" b="b"/>
              <a:pathLst>
                <a:path w="350031" h="121703">
                  <a:moveTo>
                    <a:pt x="60852" y="0"/>
                  </a:moveTo>
                  <a:lnTo>
                    <a:pt x="289180" y="0"/>
                  </a:lnTo>
                  <a:cubicBezTo>
                    <a:pt x="305319" y="0"/>
                    <a:pt x="320797" y="6411"/>
                    <a:pt x="332208" y="17823"/>
                  </a:cubicBezTo>
                  <a:cubicBezTo>
                    <a:pt x="343620" y="29235"/>
                    <a:pt x="350031" y="44713"/>
                    <a:pt x="350031" y="60852"/>
                  </a:cubicBezTo>
                  <a:lnTo>
                    <a:pt x="350031" y="60852"/>
                  </a:lnTo>
                  <a:cubicBezTo>
                    <a:pt x="350031" y="94459"/>
                    <a:pt x="322787" y="121703"/>
                    <a:pt x="289180" y="121703"/>
                  </a:cubicBezTo>
                  <a:lnTo>
                    <a:pt x="60852" y="121703"/>
                  </a:lnTo>
                  <a:cubicBezTo>
                    <a:pt x="44713" y="121703"/>
                    <a:pt x="29235" y="115292"/>
                    <a:pt x="17823" y="103880"/>
                  </a:cubicBezTo>
                  <a:cubicBezTo>
                    <a:pt x="6411" y="92468"/>
                    <a:pt x="0" y="76990"/>
                    <a:pt x="0" y="60852"/>
                  </a:cubicBezTo>
                  <a:lnTo>
                    <a:pt x="0" y="60852"/>
                  </a:lnTo>
                  <a:cubicBezTo>
                    <a:pt x="0" y="44713"/>
                    <a:pt x="6411" y="29235"/>
                    <a:pt x="17823" y="17823"/>
                  </a:cubicBezTo>
                  <a:cubicBezTo>
                    <a:pt x="29235" y="6411"/>
                    <a:pt x="44713" y="0"/>
                    <a:pt x="60852" y="0"/>
                  </a:cubicBezTo>
                  <a:close/>
                </a:path>
              </a:pathLst>
            </a:custGeom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350031" cy="1883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094615" y="5153314"/>
            <a:ext cx="942782" cy="530942"/>
            <a:chOff x="0" y="0"/>
            <a:chExt cx="134494" cy="757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4494" cy="75742"/>
            </a:xfrm>
            <a:custGeom>
              <a:avLst/>
              <a:gdLst/>
              <a:ahLst/>
              <a:cxnLst/>
              <a:rect l="l" t="t" r="r" b="b"/>
              <a:pathLst>
                <a:path w="134494" h="75742">
                  <a:moveTo>
                    <a:pt x="37871" y="0"/>
                  </a:moveTo>
                  <a:lnTo>
                    <a:pt x="96623" y="0"/>
                  </a:lnTo>
                  <a:cubicBezTo>
                    <a:pt x="117538" y="0"/>
                    <a:pt x="134494" y="16955"/>
                    <a:pt x="134494" y="37871"/>
                  </a:cubicBezTo>
                  <a:lnTo>
                    <a:pt x="134494" y="37871"/>
                  </a:lnTo>
                  <a:cubicBezTo>
                    <a:pt x="134494" y="58787"/>
                    <a:pt x="117538" y="75742"/>
                    <a:pt x="96623" y="75742"/>
                  </a:cubicBezTo>
                  <a:lnTo>
                    <a:pt x="37871" y="75742"/>
                  </a:lnTo>
                  <a:cubicBezTo>
                    <a:pt x="16955" y="75742"/>
                    <a:pt x="0" y="58787"/>
                    <a:pt x="0" y="37871"/>
                  </a:cubicBezTo>
                  <a:lnTo>
                    <a:pt x="0" y="37871"/>
                  </a:lnTo>
                  <a:cubicBezTo>
                    <a:pt x="0" y="16955"/>
                    <a:pt x="16955" y="0"/>
                    <a:pt x="37871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134494" cy="14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-10800000">
            <a:off x="12949109" y="5153314"/>
            <a:ext cx="942782" cy="530942"/>
            <a:chOff x="0" y="0"/>
            <a:chExt cx="134494" cy="7574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4494" cy="75742"/>
            </a:xfrm>
            <a:custGeom>
              <a:avLst/>
              <a:gdLst/>
              <a:ahLst/>
              <a:cxnLst/>
              <a:rect l="l" t="t" r="r" b="b"/>
              <a:pathLst>
                <a:path w="134494" h="75742">
                  <a:moveTo>
                    <a:pt x="37871" y="0"/>
                  </a:moveTo>
                  <a:lnTo>
                    <a:pt x="96623" y="0"/>
                  </a:lnTo>
                  <a:cubicBezTo>
                    <a:pt x="117538" y="0"/>
                    <a:pt x="134494" y="16955"/>
                    <a:pt x="134494" y="37871"/>
                  </a:cubicBezTo>
                  <a:lnTo>
                    <a:pt x="134494" y="37871"/>
                  </a:lnTo>
                  <a:cubicBezTo>
                    <a:pt x="134494" y="58787"/>
                    <a:pt x="117538" y="75742"/>
                    <a:pt x="96623" y="75742"/>
                  </a:cubicBezTo>
                  <a:lnTo>
                    <a:pt x="37871" y="75742"/>
                  </a:lnTo>
                  <a:cubicBezTo>
                    <a:pt x="16955" y="75742"/>
                    <a:pt x="0" y="58787"/>
                    <a:pt x="0" y="37871"/>
                  </a:cubicBezTo>
                  <a:lnTo>
                    <a:pt x="0" y="37871"/>
                  </a:lnTo>
                  <a:cubicBezTo>
                    <a:pt x="0" y="16955"/>
                    <a:pt x="16955" y="0"/>
                    <a:pt x="37871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134494" cy="14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4374117" y="5263375"/>
            <a:ext cx="390300" cy="310821"/>
          </a:xfrm>
          <a:custGeom>
            <a:avLst/>
            <a:gdLst/>
            <a:ahLst/>
            <a:cxnLst/>
            <a:rect l="l" t="t" r="r" b="b"/>
            <a:pathLst>
              <a:path w="390300" h="310821">
                <a:moveTo>
                  <a:pt x="0" y="0"/>
                </a:moveTo>
                <a:lnTo>
                  <a:pt x="390300" y="0"/>
                </a:lnTo>
                <a:lnTo>
                  <a:pt x="390300" y="310821"/>
                </a:lnTo>
                <a:lnTo>
                  <a:pt x="0" y="310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 rot="-10800000">
            <a:off x="13222089" y="5263375"/>
            <a:ext cx="390300" cy="310821"/>
          </a:xfrm>
          <a:custGeom>
            <a:avLst/>
            <a:gdLst/>
            <a:ahLst/>
            <a:cxnLst/>
            <a:rect l="l" t="t" r="r" b="b"/>
            <a:pathLst>
              <a:path w="390300" h="310821">
                <a:moveTo>
                  <a:pt x="0" y="0"/>
                </a:moveTo>
                <a:lnTo>
                  <a:pt x="390300" y="0"/>
                </a:lnTo>
                <a:lnTo>
                  <a:pt x="390300" y="310821"/>
                </a:lnTo>
                <a:lnTo>
                  <a:pt x="0" y="310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12768834" y="3662533"/>
            <a:ext cx="4762087" cy="109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2870" b="1" i="1" spc="-103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What Business Problem Are We Solving?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9063" y="-448043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443984" y="1824042"/>
            <a:ext cx="2863002" cy="528861"/>
            <a:chOff x="0" y="0"/>
            <a:chExt cx="484767" cy="895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4767" cy="89547"/>
            </a:xfrm>
            <a:custGeom>
              <a:avLst/>
              <a:gdLst/>
              <a:ahLst/>
              <a:cxnLst/>
              <a:rect l="l" t="t" r="r" b="b"/>
              <a:pathLst>
                <a:path w="484767" h="89547">
                  <a:moveTo>
                    <a:pt x="44774" y="0"/>
                  </a:moveTo>
                  <a:lnTo>
                    <a:pt x="439993" y="0"/>
                  </a:lnTo>
                  <a:cubicBezTo>
                    <a:pt x="464721" y="0"/>
                    <a:pt x="484767" y="20046"/>
                    <a:pt x="484767" y="44774"/>
                  </a:cubicBezTo>
                  <a:lnTo>
                    <a:pt x="484767" y="44774"/>
                  </a:lnTo>
                  <a:cubicBezTo>
                    <a:pt x="484767" y="56648"/>
                    <a:pt x="480049" y="68037"/>
                    <a:pt x="471653" y="76433"/>
                  </a:cubicBezTo>
                  <a:cubicBezTo>
                    <a:pt x="463256" y="84830"/>
                    <a:pt x="451868" y="89547"/>
                    <a:pt x="439993" y="89547"/>
                  </a:cubicBezTo>
                  <a:lnTo>
                    <a:pt x="44774" y="89547"/>
                  </a:lnTo>
                  <a:cubicBezTo>
                    <a:pt x="20046" y="89547"/>
                    <a:pt x="0" y="69501"/>
                    <a:pt x="0" y="44774"/>
                  </a:cubicBezTo>
                  <a:lnTo>
                    <a:pt x="0" y="44774"/>
                  </a:lnTo>
                  <a:cubicBezTo>
                    <a:pt x="0" y="20046"/>
                    <a:pt x="20046" y="0"/>
                    <a:pt x="44774" y="0"/>
                  </a:cubicBezTo>
                  <a:close/>
                </a:path>
              </a:pathLst>
            </a:custGeom>
            <a:solidFill>
              <a:srgbClr val="D9E73C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4767" cy="156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5803" y="1824042"/>
            <a:ext cx="2212552" cy="528861"/>
            <a:chOff x="0" y="0"/>
            <a:chExt cx="374632" cy="895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4632" cy="89547"/>
            </a:xfrm>
            <a:custGeom>
              <a:avLst/>
              <a:gdLst/>
              <a:ahLst/>
              <a:cxnLst/>
              <a:rect l="l" t="t" r="r" b="b"/>
              <a:pathLst>
                <a:path w="374632" h="89547">
                  <a:moveTo>
                    <a:pt x="44774" y="0"/>
                  </a:moveTo>
                  <a:lnTo>
                    <a:pt x="329858" y="0"/>
                  </a:lnTo>
                  <a:cubicBezTo>
                    <a:pt x="341733" y="0"/>
                    <a:pt x="353121" y="4717"/>
                    <a:pt x="361518" y="13114"/>
                  </a:cubicBezTo>
                  <a:cubicBezTo>
                    <a:pt x="369914" y="21511"/>
                    <a:pt x="374632" y="32899"/>
                    <a:pt x="374632" y="44774"/>
                  </a:cubicBezTo>
                  <a:lnTo>
                    <a:pt x="374632" y="44774"/>
                  </a:lnTo>
                  <a:cubicBezTo>
                    <a:pt x="374632" y="69501"/>
                    <a:pt x="354586" y="89547"/>
                    <a:pt x="329858" y="89547"/>
                  </a:cubicBezTo>
                  <a:lnTo>
                    <a:pt x="44774" y="89547"/>
                  </a:lnTo>
                  <a:cubicBezTo>
                    <a:pt x="20046" y="89547"/>
                    <a:pt x="0" y="69501"/>
                    <a:pt x="0" y="44774"/>
                  </a:cubicBezTo>
                  <a:lnTo>
                    <a:pt x="0" y="44774"/>
                  </a:lnTo>
                  <a:cubicBezTo>
                    <a:pt x="0" y="20046"/>
                    <a:pt x="20046" y="0"/>
                    <a:pt x="44774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74632" cy="156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45803" y="1849339"/>
            <a:ext cx="2212552" cy="386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8"/>
              </a:lnSpc>
            </a:pPr>
            <a:r>
              <a:rPr lang="en-US" sz="2051" spc="-7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23637" y="1849339"/>
            <a:ext cx="1971556" cy="386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8"/>
              </a:lnSpc>
            </a:pPr>
            <a:r>
              <a:rPr lang="en-US" sz="2051" b="1" spc="-73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E-Commerce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4125" y="204792"/>
            <a:ext cx="5602299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spc="-3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24125" y="2716548"/>
            <a:ext cx="3990648" cy="3476681"/>
            <a:chOff x="0" y="0"/>
            <a:chExt cx="1051035" cy="91566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51035" cy="915669"/>
            </a:xfrm>
            <a:custGeom>
              <a:avLst/>
              <a:gdLst/>
              <a:ahLst/>
              <a:cxnLst/>
              <a:rect l="l" t="t" r="r" b="b"/>
              <a:pathLst>
                <a:path w="1051035" h="915669">
                  <a:moveTo>
                    <a:pt x="98941" y="0"/>
                  </a:moveTo>
                  <a:lnTo>
                    <a:pt x="952094" y="0"/>
                  </a:lnTo>
                  <a:cubicBezTo>
                    <a:pt x="1006737" y="0"/>
                    <a:pt x="1051035" y="44297"/>
                    <a:pt x="1051035" y="98941"/>
                  </a:cubicBezTo>
                  <a:lnTo>
                    <a:pt x="1051035" y="816728"/>
                  </a:lnTo>
                  <a:cubicBezTo>
                    <a:pt x="1051035" y="842969"/>
                    <a:pt x="1040611" y="868135"/>
                    <a:pt x="1022056" y="886690"/>
                  </a:cubicBezTo>
                  <a:cubicBezTo>
                    <a:pt x="1003501" y="905245"/>
                    <a:pt x="978335" y="915669"/>
                    <a:pt x="952094" y="915669"/>
                  </a:cubicBezTo>
                  <a:lnTo>
                    <a:pt x="98941" y="915669"/>
                  </a:lnTo>
                  <a:cubicBezTo>
                    <a:pt x="72700" y="915669"/>
                    <a:pt x="47534" y="905245"/>
                    <a:pt x="28979" y="886690"/>
                  </a:cubicBezTo>
                  <a:cubicBezTo>
                    <a:pt x="10424" y="868135"/>
                    <a:pt x="0" y="842969"/>
                    <a:pt x="0" y="816728"/>
                  </a:cubicBezTo>
                  <a:lnTo>
                    <a:pt x="0" y="98941"/>
                  </a:lnTo>
                  <a:cubicBezTo>
                    <a:pt x="0" y="72700"/>
                    <a:pt x="10424" y="47534"/>
                    <a:pt x="28979" y="28979"/>
                  </a:cubicBezTo>
                  <a:cubicBezTo>
                    <a:pt x="47534" y="10424"/>
                    <a:pt x="72700" y="0"/>
                    <a:pt x="98941" y="0"/>
                  </a:cubicBezTo>
                  <a:close/>
                </a:path>
              </a:pathLst>
            </a:custGeom>
            <a:solidFill>
              <a:srgbClr val="343434"/>
            </a:soli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051035" cy="982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10181" y="2772680"/>
            <a:ext cx="1709269" cy="108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44"/>
              </a:lnSpc>
            </a:pPr>
            <a:r>
              <a:rPr lang="en-US" sz="6031" b="1" spc="-3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1513" y="3888520"/>
            <a:ext cx="3463612" cy="239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099" i="1" spc="-7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Identify the top reasons customers return products and reduce the return rate by understanding root causes.</a:t>
            </a:r>
          </a:p>
          <a:p>
            <a:pPr algn="l">
              <a:lnSpc>
                <a:spcPts val="3170"/>
              </a:lnSpc>
            </a:pPr>
            <a:endParaRPr lang="en-US" sz="2099" i="1" spc="-75">
              <a:solidFill>
                <a:srgbClr val="FFFFFF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2277335" y="622115"/>
            <a:ext cx="4981965" cy="507877"/>
            <a:chOff x="0" y="0"/>
            <a:chExt cx="1153786" cy="11762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53786" cy="117621"/>
            </a:xfrm>
            <a:custGeom>
              <a:avLst/>
              <a:gdLst/>
              <a:ahLst/>
              <a:cxnLst/>
              <a:rect l="l" t="t" r="r" b="b"/>
              <a:pathLst>
                <a:path w="1153786" h="117621">
                  <a:moveTo>
                    <a:pt x="58810" y="0"/>
                  </a:moveTo>
                  <a:lnTo>
                    <a:pt x="1094976" y="0"/>
                  </a:lnTo>
                  <a:cubicBezTo>
                    <a:pt x="1127456" y="0"/>
                    <a:pt x="1153786" y="26330"/>
                    <a:pt x="1153786" y="58810"/>
                  </a:cubicBezTo>
                  <a:lnTo>
                    <a:pt x="1153786" y="58810"/>
                  </a:lnTo>
                  <a:cubicBezTo>
                    <a:pt x="1153786" y="91290"/>
                    <a:pt x="1127456" y="117621"/>
                    <a:pt x="1094976" y="117621"/>
                  </a:cubicBezTo>
                  <a:lnTo>
                    <a:pt x="58810" y="117621"/>
                  </a:lnTo>
                  <a:cubicBezTo>
                    <a:pt x="26330" y="117621"/>
                    <a:pt x="0" y="91290"/>
                    <a:pt x="0" y="58810"/>
                  </a:cubicBezTo>
                  <a:lnTo>
                    <a:pt x="0" y="58810"/>
                  </a:lnTo>
                  <a:cubicBezTo>
                    <a:pt x="0" y="26330"/>
                    <a:pt x="26330" y="0"/>
                    <a:pt x="588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4500"/>
                  </a:srgbClr>
                </a:gs>
                <a:gs pos="100000">
                  <a:srgbClr val="FFFEFF">
                    <a:alpha val="650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153786" cy="184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493941" y="682906"/>
            <a:ext cx="1648277" cy="386295"/>
            <a:chOff x="0" y="0"/>
            <a:chExt cx="381729" cy="8946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1729" cy="89463"/>
            </a:xfrm>
            <a:custGeom>
              <a:avLst/>
              <a:gdLst/>
              <a:ahLst/>
              <a:cxnLst/>
              <a:rect l="l" t="t" r="r" b="b"/>
              <a:pathLst>
                <a:path w="381729" h="89463">
                  <a:moveTo>
                    <a:pt x="44732" y="0"/>
                  </a:moveTo>
                  <a:lnTo>
                    <a:pt x="336997" y="0"/>
                  </a:lnTo>
                  <a:cubicBezTo>
                    <a:pt x="348861" y="0"/>
                    <a:pt x="360238" y="4713"/>
                    <a:pt x="368627" y="13102"/>
                  </a:cubicBezTo>
                  <a:cubicBezTo>
                    <a:pt x="377016" y="21490"/>
                    <a:pt x="381729" y="32868"/>
                    <a:pt x="381729" y="44732"/>
                  </a:cubicBezTo>
                  <a:lnTo>
                    <a:pt x="381729" y="44732"/>
                  </a:lnTo>
                  <a:cubicBezTo>
                    <a:pt x="381729" y="69436"/>
                    <a:pt x="361702" y="89463"/>
                    <a:pt x="336997" y="89463"/>
                  </a:cubicBezTo>
                  <a:lnTo>
                    <a:pt x="44732" y="89463"/>
                  </a:lnTo>
                  <a:cubicBezTo>
                    <a:pt x="20027" y="89463"/>
                    <a:pt x="0" y="69436"/>
                    <a:pt x="0" y="44732"/>
                  </a:cubicBezTo>
                  <a:lnTo>
                    <a:pt x="0" y="44732"/>
                  </a:lnTo>
                  <a:cubicBezTo>
                    <a:pt x="0" y="20027"/>
                    <a:pt x="20027" y="0"/>
                    <a:pt x="44732" y="0"/>
                  </a:cubicBezTo>
                  <a:close/>
                </a:path>
              </a:pathLst>
            </a:custGeom>
            <a:solidFill>
              <a:srgbClr val="283287"/>
            </a:soli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381729" cy="156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441763" y="659836"/>
            <a:ext cx="3173418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b="1" spc="-75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What This Project Aims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34499" y="653415"/>
            <a:ext cx="1406358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b="1" spc="-7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 Achieve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502696" y="2671990"/>
            <a:ext cx="3990648" cy="3476681"/>
            <a:chOff x="0" y="0"/>
            <a:chExt cx="1051035" cy="91566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51035" cy="915669"/>
            </a:xfrm>
            <a:custGeom>
              <a:avLst/>
              <a:gdLst/>
              <a:ahLst/>
              <a:cxnLst/>
              <a:rect l="l" t="t" r="r" b="b"/>
              <a:pathLst>
                <a:path w="1051035" h="915669">
                  <a:moveTo>
                    <a:pt x="98941" y="0"/>
                  </a:moveTo>
                  <a:lnTo>
                    <a:pt x="952094" y="0"/>
                  </a:lnTo>
                  <a:cubicBezTo>
                    <a:pt x="1006737" y="0"/>
                    <a:pt x="1051035" y="44297"/>
                    <a:pt x="1051035" y="98941"/>
                  </a:cubicBezTo>
                  <a:lnTo>
                    <a:pt x="1051035" y="816728"/>
                  </a:lnTo>
                  <a:cubicBezTo>
                    <a:pt x="1051035" y="842969"/>
                    <a:pt x="1040611" y="868135"/>
                    <a:pt x="1022056" y="886690"/>
                  </a:cubicBezTo>
                  <a:cubicBezTo>
                    <a:pt x="1003501" y="905245"/>
                    <a:pt x="978335" y="915669"/>
                    <a:pt x="952094" y="915669"/>
                  </a:cubicBezTo>
                  <a:lnTo>
                    <a:pt x="98941" y="915669"/>
                  </a:lnTo>
                  <a:cubicBezTo>
                    <a:pt x="72700" y="915669"/>
                    <a:pt x="47534" y="905245"/>
                    <a:pt x="28979" y="886690"/>
                  </a:cubicBezTo>
                  <a:cubicBezTo>
                    <a:pt x="10424" y="868135"/>
                    <a:pt x="0" y="842969"/>
                    <a:pt x="0" y="816728"/>
                  </a:cubicBezTo>
                  <a:lnTo>
                    <a:pt x="0" y="98941"/>
                  </a:lnTo>
                  <a:cubicBezTo>
                    <a:pt x="0" y="72700"/>
                    <a:pt x="10424" y="47534"/>
                    <a:pt x="28979" y="28979"/>
                  </a:cubicBezTo>
                  <a:cubicBezTo>
                    <a:pt x="47534" y="10424"/>
                    <a:pt x="72700" y="0"/>
                    <a:pt x="98941" y="0"/>
                  </a:cubicBezTo>
                  <a:close/>
                </a:path>
              </a:pathLst>
            </a:custGeom>
            <a:solidFill>
              <a:srgbClr val="343434"/>
            </a:soli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1051035" cy="982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788751" y="2728122"/>
            <a:ext cx="1709269" cy="108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44"/>
              </a:lnSpc>
            </a:pPr>
            <a:r>
              <a:rPr lang="en-US" sz="6031" b="1" spc="-3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20084" y="3843962"/>
            <a:ext cx="3463612" cy="199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099" i="1" spc="-7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Analyze sales and profit trends across months, regions, and product categories to find growth opportunities.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588719" y="2671990"/>
            <a:ext cx="3990648" cy="3476681"/>
            <a:chOff x="0" y="0"/>
            <a:chExt cx="1051035" cy="91566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1035" cy="915669"/>
            </a:xfrm>
            <a:custGeom>
              <a:avLst/>
              <a:gdLst/>
              <a:ahLst/>
              <a:cxnLst/>
              <a:rect l="l" t="t" r="r" b="b"/>
              <a:pathLst>
                <a:path w="1051035" h="915669">
                  <a:moveTo>
                    <a:pt x="98941" y="0"/>
                  </a:moveTo>
                  <a:lnTo>
                    <a:pt x="952094" y="0"/>
                  </a:lnTo>
                  <a:cubicBezTo>
                    <a:pt x="1006737" y="0"/>
                    <a:pt x="1051035" y="44297"/>
                    <a:pt x="1051035" y="98941"/>
                  </a:cubicBezTo>
                  <a:lnTo>
                    <a:pt x="1051035" y="816728"/>
                  </a:lnTo>
                  <a:cubicBezTo>
                    <a:pt x="1051035" y="842969"/>
                    <a:pt x="1040611" y="868135"/>
                    <a:pt x="1022056" y="886690"/>
                  </a:cubicBezTo>
                  <a:cubicBezTo>
                    <a:pt x="1003501" y="905245"/>
                    <a:pt x="978335" y="915669"/>
                    <a:pt x="952094" y="915669"/>
                  </a:cubicBezTo>
                  <a:lnTo>
                    <a:pt x="98941" y="915669"/>
                  </a:lnTo>
                  <a:cubicBezTo>
                    <a:pt x="72700" y="915669"/>
                    <a:pt x="47534" y="905245"/>
                    <a:pt x="28979" y="886690"/>
                  </a:cubicBezTo>
                  <a:cubicBezTo>
                    <a:pt x="10424" y="868135"/>
                    <a:pt x="0" y="842969"/>
                    <a:pt x="0" y="816728"/>
                  </a:cubicBezTo>
                  <a:lnTo>
                    <a:pt x="0" y="98941"/>
                  </a:lnTo>
                  <a:cubicBezTo>
                    <a:pt x="0" y="72700"/>
                    <a:pt x="10424" y="47534"/>
                    <a:pt x="28979" y="28979"/>
                  </a:cubicBezTo>
                  <a:cubicBezTo>
                    <a:pt x="47534" y="10424"/>
                    <a:pt x="72700" y="0"/>
                    <a:pt x="98941" y="0"/>
                  </a:cubicBezTo>
                  <a:close/>
                </a:path>
              </a:pathLst>
            </a:custGeom>
            <a:solidFill>
              <a:srgbClr val="343434"/>
            </a:soli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1051035" cy="982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874774" y="2728122"/>
            <a:ext cx="1709269" cy="108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44"/>
              </a:lnSpc>
            </a:pPr>
            <a:r>
              <a:rPr lang="en-US" sz="6031" b="1" spc="-3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06107" y="3843962"/>
            <a:ext cx="3318076" cy="1593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099" i="1" spc="-7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Investigate whether late delivery leads to higher return rates — and quantify the impact.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3419347" y="6326901"/>
            <a:ext cx="3990648" cy="3476681"/>
            <a:chOff x="0" y="0"/>
            <a:chExt cx="1051035" cy="91566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51035" cy="915669"/>
            </a:xfrm>
            <a:custGeom>
              <a:avLst/>
              <a:gdLst/>
              <a:ahLst/>
              <a:cxnLst/>
              <a:rect l="l" t="t" r="r" b="b"/>
              <a:pathLst>
                <a:path w="1051035" h="915669">
                  <a:moveTo>
                    <a:pt x="98941" y="0"/>
                  </a:moveTo>
                  <a:lnTo>
                    <a:pt x="952094" y="0"/>
                  </a:lnTo>
                  <a:cubicBezTo>
                    <a:pt x="1006737" y="0"/>
                    <a:pt x="1051035" y="44297"/>
                    <a:pt x="1051035" y="98941"/>
                  </a:cubicBezTo>
                  <a:lnTo>
                    <a:pt x="1051035" y="816728"/>
                  </a:lnTo>
                  <a:cubicBezTo>
                    <a:pt x="1051035" y="842969"/>
                    <a:pt x="1040611" y="868135"/>
                    <a:pt x="1022056" y="886690"/>
                  </a:cubicBezTo>
                  <a:cubicBezTo>
                    <a:pt x="1003501" y="905245"/>
                    <a:pt x="978335" y="915669"/>
                    <a:pt x="952094" y="915669"/>
                  </a:cubicBezTo>
                  <a:lnTo>
                    <a:pt x="98941" y="915669"/>
                  </a:lnTo>
                  <a:cubicBezTo>
                    <a:pt x="72700" y="915669"/>
                    <a:pt x="47534" y="905245"/>
                    <a:pt x="28979" y="886690"/>
                  </a:cubicBezTo>
                  <a:cubicBezTo>
                    <a:pt x="10424" y="868135"/>
                    <a:pt x="0" y="842969"/>
                    <a:pt x="0" y="816728"/>
                  </a:cubicBezTo>
                  <a:lnTo>
                    <a:pt x="0" y="98941"/>
                  </a:lnTo>
                  <a:cubicBezTo>
                    <a:pt x="0" y="72700"/>
                    <a:pt x="10424" y="47534"/>
                    <a:pt x="28979" y="28979"/>
                  </a:cubicBezTo>
                  <a:cubicBezTo>
                    <a:pt x="47534" y="10424"/>
                    <a:pt x="72700" y="0"/>
                    <a:pt x="98941" y="0"/>
                  </a:cubicBezTo>
                  <a:close/>
                </a:path>
              </a:pathLst>
            </a:custGeom>
            <a:solidFill>
              <a:srgbClr val="343434"/>
            </a:soli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1051035" cy="982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3705402" y="6383033"/>
            <a:ext cx="1709269" cy="108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44"/>
              </a:lnSpc>
            </a:pPr>
            <a:r>
              <a:rPr lang="en-US" sz="6031" b="1" spc="-3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36735" y="7498873"/>
            <a:ext cx="3463612" cy="199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099" i="1" spc="-7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Understand which customer segments (by age, gender, region) generate the most revenue.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8297918" y="6282344"/>
            <a:ext cx="3990648" cy="3476681"/>
            <a:chOff x="0" y="0"/>
            <a:chExt cx="1051035" cy="91566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51035" cy="915669"/>
            </a:xfrm>
            <a:custGeom>
              <a:avLst/>
              <a:gdLst/>
              <a:ahLst/>
              <a:cxnLst/>
              <a:rect l="l" t="t" r="r" b="b"/>
              <a:pathLst>
                <a:path w="1051035" h="915669">
                  <a:moveTo>
                    <a:pt x="98941" y="0"/>
                  </a:moveTo>
                  <a:lnTo>
                    <a:pt x="952094" y="0"/>
                  </a:lnTo>
                  <a:cubicBezTo>
                    <a:pt x="1006737" y="0"/>
                    <a:pt x="1051035" y="44297"/>
                    <a:pt x="1051035" y="98941"/>
                  </a:cubicBezTo>
                  <a:lnTo>
                    <a:pt x="1051035" y="816728"/>
                  </a:lnTo>
                  <a:cubicBezTo>
                    <a:pt x="1051035" y="842969"/>
                    <a:pt x="1040611" y="868135"/>
                    <a:pt x="1022056" y="886690"/>
                  </a:cubicBezTo>
                  <a:cubicBezTo>
                    <a:pt x="1003501" y="905245"/>
                    <a:pt x="978335" y="915669"/>
                    <a:pt x="952094" y="915669"/>
                  </a:cubicBezTo>
                  <a:lnTo>
                    <a:pt x="98941" y="915669"/>
                  </a:lnTo>
                  <a:cubicBezTo>
                    <a:pt x="72700" y="915669"/>
                    <a:pt x="47534" y="905245"/>
                    <a:pt x="28979" y="886690"/>
                  </a:cubicBezTo>
                  <a:cubicBezTo>
                    <a:pt x="10424" y="868135"/>
                    <a:pt x="0" y="842969"/>
                    <a:pt x="0" y="816728"/>
                  </a:cubicBezTo>
                  <a:lnTo>
                    <a:pt x="0" y="98941"/>
                  </a:lnTo>
                  <a:cubicBezTo>
                    <a:pt x="0" y="72700"/>
                    <a:pt x="10424" y="47534"/>
                    <a:pt x="28979" y="28979"/>
                  </a:cubicBezTo>
                  <a:cubicBezTo>
                    <a:pt x="47534" y="10424"/>
                    <a:pt x="72700" y="0"/>
                    <a:pt x="98941" y="0"/>
                  </a:cubicBezTo>
                  <a:close/>
                </a:path>
              </a:pathLst>
            </a:custGeom>
            <a:solidFill>
              <a:srgbClr val="343434"/>
            </a:soli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1051035" cy="982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8583973" y="6338475"/>
            <a:ext cx="1709269" cy="108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44"/>
              </a:lnSpc>
            </a:pPr>
            <a:r>
              <a:rPr lang="en-US" sz="6031" b="1" spc="-3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15306" y="7454315"/>
            <a:ext cx="3463612" cy="199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099" i="1" spc="-7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Build interactive Power BI dashboards for executives and managers to make faster, data-driven decisions.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5293534" y="8625087"/>
            <a:ext cx="1896210" cy="704582"/>
            <a:chOff x="0" y="0"/>
            <a:chExt cx="327534" cy="12170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27534" cy="121703"/>
            </a:xfrm>
            <a:custGeom>
              <a:avLst/>
              <a:gdLst/>
              <a:ahLst/>
              <a:cxnLst/>
              <a:rect l="l" t="t" r="r" b="b"/>
              <a:pathLst>
                <a:path w="327534" h="121703">
                  <a:moveTo>
                    <a:pt x="60852" y="0"/>
                  </a:moveTo>
                  <a:lnTo>
                    <a:pt x="266682" y="0"/>
                  </a:lnTo>
                  <a:cubicBezTo>
                    <a:pt x="300290" y="0"/>
                    <a:pt x="327534" y="27244"/>
                    <a:pt x="327534" y="60852"/>
                  </a:cubicBezTo>
                  <a:lnTo>
                    <a:pt x="327534" y="60852"/>
                  </a:lnTo>
                  <a:cubicBezTo>
                    <a:pt x="327534" y="76990"/>
                    <a:pt x="321123" y="92468"/>
                    <a:pt x="309711" y="103880"/>
                  </a:cubicBezTo>
                  <a:cubicBezTo>
                    <a:pt x="298299" y="115292"/>
                    <a:pt x="282821" y="121703"/>
                    <a:pt x="266682" y="121703"/>
                  </a:cubicBezTo>
                  <a:lnTo>
                    <a:pt x="60852" y="121703"/>
                  </a:lnTo>
                  <a:cubicBezTo>
                    <a:pt x="44713" y="121703"/>
                    <a:pt x="29235" y="115292"/>
                    <a:pt x="17823" y="103880"/>
                  </a:cubicBezTo>
                  <a:cubicBezTo>
                    <a:pt x="6411" y="92468"/>
                    <a:pt x="0" y="76990"/>
                    <a:pt x="0" y="60852"/>
                  </a:cubicBezTo>
                  <a:lnTo>
                    <a:pt x="0" y="60852"/>
                  </a:lnTo>
                  <a:cubicBezTo>
                    <a:pt x="0" y="44713"/>
                    <a:pt x="6411" y="29235"/>
                    <a:pt x="17823" y="17823"/>
                  </a:cubicBezTo>
                  <a:cubicBezTo>
                    <a:pt x="29235" y="6411"/>
                    <a:pt x="44713" y="0"/>
                    <a:pt x="60852" y="0"/>
                  </a:cubicBezTo>
                  <a:close/>
                </a:path>
              </a:pathLst>
            </a:custGeom>
            <a:solidFill>
              <a:srgbClr val="D9E73C"/>
            </a:soli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327534" cy="1883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6211718" y="8758129"/>
            <a:ext cx="778633" cy="438499"/>
            <a:chOff x="0" y="0"/>
            <a:chExt cx="134494" cy="7574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4494" cy="75742"/>
            </a:xfrm>
            <a:custGeom>
              <a:avLst/>
              <a:gdLst/>
              <a:ahLst/>
              <a:cxnLst/>
              <a:rect l="l" t="t" r="r" b="b"/>
              <a:pathLst>
                <a:path w="134494" h="75742">
                  <a:moveTo>
                    <a:pt x="37871" y="0"/>
                  </a:moveTo>
                  <a:lnTo>
                    <a:pt x="96623" y="0"/>
                  </a:lnTo>
                  <a:cubicBezTo>
                    <a:pt x="117538" y="0"/>
                    <a:pt x="134494" y="16955"/>
                    <a:pt x="134494" y="37871"/>
                  </a:cubicBezTo>
                  <a:lnTo>
                    <a:pt x="134494" y="37871"/>
                  </a:lnTo>
                  <a:cubicBezTo>
                    <a:pt x="134494" y="58787"/>
                    <a:pt x="117538" y="75742"/>
                    <a:pt x="96623" y="75742"/>
                  </a:cubicBezTo>
                  <a:lnTo>
                    <a:pt x="37871" y="75742"/>
                  </a:lnTo>
                  <a:cubicBezTo>
                    <a:pt x="16955" y="75742"/>
                    <a:pt x="0" y="58787"/>
                    <a:pt x="0" y="37871"/>
                  </a:cubicBezTo>
                  <a:lnTo>
                    <a:pt x="0" y="37871"/>
                  </a:lnTo>
                  <a:cubicBezTo>
                    <a:pt x="0" y="16955"/>
                    <a:pt x="16955" y="0"/>
                    <a:pt x="37871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66675"/>
              <a:ext cx="134494" cy="14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54" name="Freeform 54"/>
          <p:cNvSpPr/>
          <p:nvPr/>
        </p:nvSpPr>
        <p:spPr>
          <a:xfrm>
            <a:off x="16442556" y="8849027"/>
            <a:ext cx="322344" cy="256703"/>
          </a:xfrm>
          <a:custGeom>
            <a:avLst/>
            <a:gdLst/>
            <a:ahLst/>
            <a:cxnLst/>
            <a:rect l="l" t="t" r="r" b="b"/>
            <a:pathLst>
              <a:path w="322344" h="256703">
                <a:moveTo>
                  <a:pt x="0" y="0"/>
                </a:moveTo>
                <a:lnTo>
                  <a:pt x="322344" y="0"/>
                </a:lnTo>
                <a:lnTo>
                  <a:pt x="322344" y="256703"/>
                </a:lnTo>
                <a:lnTo>
                  <a:pt x="0" y="2567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BE3E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90488" y="-448043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78438" y="1824523"/>
            <a:ext cx="4228471" cy="8082066"/>
            <a:chOff x="0" y="0"/>
            <a:chExt cx="1322015" cy="25268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2015" cy="2526827"/>
            </a:xfrm>
            <a:custGeom>
              <a:avLst/>
              <a:gdLst/>
              <a:ahLst/>
              <a:cxnLst/>
              <a:rect l="l" t="t" r="r" b="b"/>
              <a:pathLst>
                <a:path w="1322015" h="2526827">
                  <a:moveTo>
                    <a:pt x="119009" y="0"/>
                  </a:moveTo>
                  <a:lnTo>
                    <a:pt x="1203006" y="0"/>
                  </a:lnTo>
                  <a:cubicBezTo>
                    <a:pt x="1234570" y="0"/>
                    <a:pt x="1264840" y="12538"/>
                    <a:pt x="1287158" y="34857"/>
                  </a:cubicBezTo>
                  <a:cubicBezTo>
                    <a:pt x="1309477" y="57175"/>
                    <a:pt x="1322015" y="87446"/>
                    <a:pt x="1322015" y="119009"/>
                  </a:cubicBezTo>
                  <a:lnTo>
                    <a:pt x="1322015" y="2407818"/>
                  </a:lnTo>
                  <a:cubicBezTo>
                    <a:pt x="1322015" y="2439381"/>
                    <a:pt x="1309477" y="2469652"/>
                    <a:pt x="1287158" y="2491970"/>
                  </a:cubicBezTo>
                  <a:cubicBezTo>
                    <a:pt x="1264840" y="2514289"/>
                    <a:pt x="1234570" y="2526827"/>
                    <a:pt x="1203006" y="2526827"/>
                  </a:cubicBezTo>
                  <a:lnTo>
                    <a:pt x="119009" y="2526827"/>
                  </a:lnTo>
                  <a:cubicBezTo>
                    <a:pt x="87446" y="2526827"/>
                    <a:pt x="57175" y="2514289"/>
                    <a:pt x="34857" y="2491970"/>
                  </a:cubicBezTo>
                  <a:cubicBezTo>
                    <a:pt x="12538" y="2469652"/>
                    <a:pt x="0" y="2439381"/>
                    <a:pt x="0" y="2407818"/>
                  </a:cubicBezTo>
                  <a:lnTo>
                    <a:pt x="0" y="119009"/>
                  </a:lnTo>
                  <a:cubicBezTo>
                    <a:pt x="0" y="87446"/>
                    <a:pt x="12538" y="57175"/>
                    <a:pt x="34857" y="34857"/>
                  </a:cubicBezTo>
                  <a:cubicBezTo>
                    <a:pt x="57175" y="12538"/>
                    <a:pt x="87446" y="0"/>
                    <a:pt x="1190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322015" cy="2593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14236" y="1824523"/>
            <a:ext cx="4228471" cy="8082066"/>
            <a:chOff x="0" y="0"/>
            <a:chExt cx="1322015" cy="25268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22015" cy="2526827"/>
            </a:xfrm>
            <a:custGeom>
              <a:avLst/>
              <a:gdLst/>
              <a:ahLst/>
              <a:cxnLst/>
              <a:rect l="l" t="t" r="r" b="b"/>
              <a:pathLst>
                <a:path w="1322015" h="2526827">
                  <a:moveTo>
                    <a:pt x="119009" y="0"/>
                  </a:moveTo>
                  <a:lnTo>
                    <a:pt x="1203006" y="0"/>
                  </a:lnTo>
                  <a:cubicBezTo>
                    <a:pt x="1234570" y="0"/>
                    <a:pt x="1264840" y="12538"/>
                    <a:pt x="1287158" y="34857"/>
                  </a:cubicBezTo>
                  <a:cubicBezTo>
                    <a:pt x="1309477" y="57175"/>
                    <a:pt x="1322015" y="87446"/>
                    <a:pt x="1322015" y="119009"/>
                  </a:cubicBezTo>
                  <a:lnTo>
                    <a:pt x="1322015" y="2407818"/>
                  </a:lnTo>
                  <a:cubicBezTo>
                    <a:pt x="1322015" y="2439381"/>
                    <a:pt x="1309477" y="2469652"/>
                    <a:pt x="1287158" y="2491970"/>
                  </a:cubicBezTo>
                  <a:cubicBezTo>
                    <a:pt x="1264840" y="2514289"/>
                    <a:pt x="1234570" y="2526827"/>
                    <a:pt x="1203006" y="2526827"/>
                  </a:cubicBezTo>
                  <a:lnTo>
                    <a:pt x="119009" y="2526827"/>
                  </a:lnTo>
                  <a:cubicBezTo>
                    <a:pt x="87446" y="2526827"/>
                    <a:pt x="57175" y="2514289"/>
                    <a:pt x="34857" y="2491970"/>
                  </a:cubicBezTo>
                  <a:cubicBezTo>
                    <a:pt x="12538" y="2469652"/>
                    <a:pt x="0" y="2439381"/>
                    <a:pt x="0" y="2407818"/>
                  </a:cubicBezTo>
                  <a:lnTo>
                    <a:pt x="0" y="119009"/>
                  </a:lnTo>
                  <a:cubicBezTo>
                    <a:pt x="0" y="87446"/>
                    <a:pt x="12538" y="57175"/>
                    <a:pt x="34857" y="34857"/>
                  </a:cubicBezTo>
                  <a:cubicBezTo>
                    <a:pt x="57175" y="12538"/>
                    <a:pt x="87446" y="0"/>
                    <a:pt x="119009" y="0"/>
                  </a:cubicBezTo>
                  <a:close/>
                </a:path>
              </a:pathLst>
            </a:custGeom>
            <a:solidFill>
              <a:srgbClr val="D9E73C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322015" cy="2593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59334" y="2095137"/>
            <a:ext cx="1099390" cy="1023184"/>
          </a:xfrm>
          <a:custGeom>
            <a:avLst/>
            <a:gdLst/>
            <a:ahLst/>
            <a:cxnLst/>
            <a:rect l="l" t="t" r="r" b="b"/>
            <a:pathLst>
              <a:path w="1099390" h="1023184">
                <a:moveTo>
                  <a:pt x="0" y="0"/>
                </a:moveTo>
                <a:lnTo>
                  <a:pt x="1099390" y="0"/>
                </a:lnTo>
                <a:lnTo>
                  <a:pt x="1099390" y="1023183"/>
                </a:lnTo>
                <a:lnTo>
                  <a:pt x="0" y="1023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509145" y="3250186"/>
            <a:ext cx="3567056" cy="46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Summary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16525" y="3228047"/>
            <a:ext cx="3567056" cy="46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Key Columns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9145" y="3776751"/>
            <a:ext cx="3897764" cy="581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1963" b="1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Orders:</a:t>
            </a:r>
          </a:p>
          <a:p>
            <a:pPr algn="l">
              <a:lnSpc>
                <a:spcPts val="2813"/>
              </a:lnSpc>
            </a:pPr>
            <a:r>
              <a:rPr lang="en-US" sz="1863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34,956</a:t>
            </a:r>
          </a:p>
          <a:p>
            <a:pPr algn="l">
              <a:lnSpc>
                <a:spcPts val="2964"/>
              </a:lnSpc>
            </a:pPr>
            <a:r>
              <a:rPr lang="en-US" sz="1963" b="1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Customers: </a:t>
            </a:r>
          </a:p>
          <a:p>
            <a:pPr algn="l">
              <a:lnSpc>
                <a:spcPts val="2813"/>
              </a:lnSpc>
            </a:pPr>
            <a:r>
              <a:rPr lang="en-US" sz="1863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Multiple Segments</a:t>
            </a:r>
          </a:p>
          <a:p>
            <a:pPr algn="l">
              <a:lnSpc>
                <a:spcPts val="2964"/>
              </a:lnSpc>
            </a:pPr>
            <a:r>
              <a:rPr lang="en-US" sz="1963" b="1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Region:</a:t>
            </a:r>
          </a:p>
          <a:p>
            <a:pPr algn="l">
              <a:lnSpc>
                <a:spcPts val="2813"/>
              </a:lnSpc>
            </a:pPr>
            <a:r>
              <a:rPr lang="en-US" sz="1863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North, East, West, South &amp; Central</a:t>
            </a:r>
          </a:p>
          <a:p>
            <a:pPr algn="l">
              <a:lnSpc>
                <a:spcPts val="2964"/>
              </a:lnSpc>
            </a:pPr>
            <a:r>
              <a:rPr lang="en-US" sz="1963" b="1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Categories:</a:t>
            </a:r>
          </a:p>
          <a:p>
            <a:pPr algn="l">
              <a:lnSpc>
                <a:spcPts val="2813"/>
              </a:lnSpc>
            </a:pPr>
            <a:r>
              <a:rPr lang="en-US" sz="1863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 (Fashion, Home, Electronics........)</a:t>
            </a:r>
          </a:p>
          <a:p>
            <a:pPr algn="l">
              <a:lnSpc>
                <a:spcPts val="2964"/>
              </a:lnSpc>
            </a:pPr>
            <a:r>
              <a:rPr lang="en-US" sz="1963" b="1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Year Covered:</a:t>
            </a:r>
          </a:p>
          <a:p>
            <a:pPr algn="l">
              <a:lnSpc>
                <a:spcPts val="2813"/>
              </a:lnSpc>
            </a:pPr>
            <a:r>
              <a:rPr lang="en-US" sz="1863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2023-2024-2025</a:t>
            </a:r>
          </a:p>
          <a:p>
            <a:pPr algn="l">
              <a:lnSpc>
                <a:spcPts val="2964"/>
              </a:lnSpc>
            </a:pPr>
            <a:r>
              <a:rPr lang="en-US" sz="1963" b="1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Numbers:</a:t>
            </a:r>
          </a:p>
          <a:p>
            <a:pPr algn="l">
              <a:lnSpc>
                <a:spcPts val="2813"/>
              </a:lnSpc>
            </a:pPr>
            <a:r>
              <a:rPr lang="en-US" sz="1863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1902 Records</a:t>
            </a:r>
          </a:p>
          <a:p>
            <a:pPr algn="l">
              <a:lnSpc>
                <a:spcPts val="2964"/>
              </a:lnSpc>
            </a:pPr>
            <a:r>
              <a:rPr lang="en-US" sz="1963" b="1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 Method:</a:t>
            </a:r>
          </a:p>
          <a:p>
            <a:pPr algn="l">
              <a:lnSpc>
                <a:spcPts val="2964"/>
              </a:lnSpc>
            </a:pPr>
            <a:r>
              <a:rPr lang="en-US" sz="1963" spc="-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 Different</a:t>
            </a:r>
          </a:p>
          <a:p>
            <a:pPr algn="l">
              <a:lnSpc>
                <a:spcPts val="2964"/>
              </a:lnSpc>
            </a:pPr>
            <a:r>
              <a:rPr lang="en-US" sz="1963" b="1" spc="-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Profit Status:</a:t>
            </a:r>
          </a:p>
          <a:p>
            <a:pPr algn="l">
              <a:lnSpc>
                <a:spcPts val="2813"/>
              </a:lnSpc>
            </a:pPr>
            <a:r>
              <a:rPr lang="en-US" sz="1863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Labeled Profit / Loss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1475" y="-71923"/>
            <a:ext cx="13447552" cy="189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46"/>
              </a:lnSpc>
            </a:pPr>
            <a:r>
              <a:rPr lang="en-US" sz="10461" spc="-366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Dataset Overview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31475" y="2095137"/>
            <a:ext cx="1016981" cy="1025328"/>
          </a:xfrm>
          <a:custGeom>
            <a:avLst/>
            <a:gdLst/>
            <a:ahLst/>
            <a:cxnLst/>
            <a:rect l="l" t="t" r="r" b="b"/>
            <a:pathLst>
              <a:path w="1016981" h="1025328">
                <a:moveTo>
                  <a:pt x="0" y="0"/>
                </a:moveTo>
                <a:lnTo>
                  <a:pt x="1016981" y="0"/>
                </a:lnTo>
                <a:lnTo>
                  <a:pt x="1016981" y="1025328"/>
                </a:lnTo>
                <a:lnTo>
                  <a:pt x="0" y="10253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316525" y="3818045"/>
            <a:ext cx="3623892" cy="5569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4"/>
              </a:lnSpc>
            </a:pPr>
            <a:r>
              <a:rPr lang="en-US" sz="1863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Order_id</a:t>
            </a:r>
          </a:p>
          <a:p>
            <a:pPr algn="l">
              <a:lnSpc>
                <a:spcPts val="4434"/>
              </a:lnSpc>
            </a:pPr>
            <a:r>
              <a:rPr lang="en-US" sz="1863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Customer_id</a:t>
            </a:r>
          </a:p>
          <a:p>
            <a:pPr algn="l">
              <a:lnSpc>
                <a:spcPts val="4434"/>
              </a:lnSpc>
            </a:pPr>
            <a:r>
              <a:rPr lang="en-US" sz="1863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Category</a:t>
            </a:r>
          </a:p>
          <a:p>
            <a:pPr algn="l">
              <a:lnSpc>
                <a:spcPts val="4434"/>
              </a:lnSpc>
            </a:pPr>
            <a:r>
              <a:rPr lang="en-US" sz="1863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Region</a:t>
            </a:r>
          </a:p>
          <a:p>
            <a:pPr algn="l">
              <a:lnSpc>
                <a:spcPts val="4434"/>
              </a:lnSpc>
            </a:pPr>
            <a:r>
              <a:rPr lang="en-US" sz="1863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total_Revenue</a:t>
            </a:r>
          </a:p>
          <a:p>
            <a:pPr algn="l">
              <a:lnSpc>
                <a:spcPts val="4434"/>
              </a:lnSpc>
            </a:pPr>
            <a:r>
              <a:rPr lang="en-US" sz="1863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total_profit</a:t>
            </a:r>
          </a:p>
          <a:p>
            <a:pPr algn="l">
              <a:lnSpc>
                <a:spcPts val="4434"/>
              </a:lnSpc>
            </a:pPr>
            <a:r>
              <a:rPr lang="en-US" sz="1863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delievery_days</a:t>
            </a:r>
          </a:p>
          <a:p>
            <a:pPr algn="l">
              <a:lnSpc>
                <a:spcPts val="4434"/>
              </a:lnSpc>
            </a:pPr>
            <a:r>
              <a:rPr lang="en-US" sz="1863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return_reason</a:t>
            </a:r>
          </a:p>
          <a:p>
            <a:pPr algn="l">
              <a:lnSpc>
                <a:spcPts val="4434"/>
              </a:lnSpc>
            </a:pPr>
            <a:r>
              <a:rPr lang="en-US" sz="1863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payment_method</a:t>
            </a:r>
          </a:p>
          <a:p>
            <a:pPr algn="l">
              <a:lnSpc>
                <a:spcPts val="4434"/>
              </a:lnSpc>
            </a:pPr>
            <a:r>
              <a:rPr lang="en-US" sz="1863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age_group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423806" y="2236911"/>
            <a:ext cx="6345972" cy="12739301"/>
          </a:xfrm>
          <a:custGeom>
            <a:avLst/>
            <a:gdLst/>
            <a:ahLst/>
            <a:cxnLst/>
            <a:rect l="l" t="t" r="r" b="b"/>
            <a:pathLst>
              <a:path w="6345972" h="12739301">
                <a:moveTo>
                  <a:pt x="0" y="0"/>
                </a:moveTo>
                <a:lnTo>
                  <a:pt x="6345972" y="0"/>
                </a:lnTo>
                <a:lnTo>
                  <a:pt x="6345972" y="12739301"/>
                </a:lnTo>
                <a:lnTo>
                  <a:pt x="0" y="127393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1767376" y="2533429"/>
            <a:ext cx="5633294" cy="11130097"/>
            <a:chOff x="0" y="0"/>
            <a:chExt cx="1483666" cy="29313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3666" cy="2931383"/>
            </a:xfrm>
            <a:custGeom>
              <a:avLst/>
              <a:gdLst/>
              <a:ahLst/>
              <a:cxnLst/>
              <a:rect l="l" t="t" r="r" b="b"/>
              <a:pathLst>
                <a:path w="1483666" h="2931383">
                  <a:moveTo>
                    <a:pt x="104448" y="0"/>
                  </a:moveTo>
                  <a:lnTo>
                    <a:pt x="1379218" y="0"/>
                  </a:lnTo>
                  <a:cubicBezTo>
                    <a:pt x="1436903" y="0"/>
                    <a:pt x="1483666" y="46763"/>
                    <a:pt x="1483666" y="104448"/>
                  </a:cubicBezTo>
                  <a:lnTo>
                    <a:pt x="1483666" y="2826936"/>
                  </a:lnTo>
                  <a:cubicBezTo>
                    <a:pt x="1483666" y="2854637"/>
                    <a:pt x="1472662" y="2881204"/>
                    <a:pt x="1453074" y="2900791"/>
                  </a:cubicBezTo>
                  <a:cubicBezTo>
                    <a:pt x="1433486" y="2920379"/>
                    <a:pt x="1406919" y="2931383"/>
                    <a:pt x="1379218" y="2931383"/>
                  </a:cubicBezTo>
                  <a:lnTo>
                    <a:pt x="104448" y="2931383"/>
                  </a:lnTo>
                  <a:cubicBezTo>
                    <a:pt x="46763" y="2931383"/>
                    <a:pt x="0" y="2884621"/>
                    <a:pt x="0" y="2826936"/>
                  </a:cubicBezTo>
                  <a:lnTo>
                    <a:pt x="0" y="104448"/>
                  </a:lnTo>
                  <a:cubicBezTo>
                    <a:pt x="0" y="46763"/>
                    <a:pt x="46763" y="0"/>
                    <a:pt x="10444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DDDFF">
                    <a:alpha val="100000"/>
                  </a:srgbClr>
                </a:gs>
                <a:gs pos="100000">
                  <a:srgbClr val="F2E7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483666" cy="29980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2176442" y="8379820"/>
            <a:ext cx="4765342" cy="831769"/>
          </a:xfrm>
          <a:custGeom>
            <a:avLst/>
            <a:gdLst/>
            <a:ahLst/>
            <a:cxnLst/>
            <a:rect l="l" t="t" r="r" b="b"/>
            <a:pathLst>
              <a:path w="4765342" h="831769">
                <a:moveTo>
                  <a:pt x="0" y="0"/>
                </a:moveTo>
                <a:lnTo>
                  <a:pt x="4765341" y="0"/>
                </a:lnTo>
                <a:lnTo>
                  <a:pt x="4765341" y="831769"/>
                </a:lnTo>
                <a:lnTo>
                  <a:pt x="0" y="8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3114795" y="3184968"/>
            <a:ext cx="3826988" cy="667983"/>
          </a:xfrm>
          <a:custGeom>
            <a:avLst/>
            <a:gdLst/>
            <a:ahLst/>
            <a:cxnLst/>
            <a:rect l="l" t="t" r="r" b="b"/>
            <a:pathLst>
              <a:path w="3826988" h="667983">
                <a:moveTo>
                  <a:pt x="0" y="0"/>
                </a:moveTo>
                <a:lnTo>
                  <a:pt x="3826988" y="0"/>
                </a:lnTo>
                <a:lnTo>
                  <a:pt x="3826988" y="667983"/>
                </a:lnTo>
                <a:lnTo>
                  <a:pt x="0" y="667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2174782" y="3983314"/>
            <a:ext cx="4767001" cy="4807314"/>
            <a:chOff x="0" y="0"/>
            <a:chExt cx="1255507" cy="126612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55507" cy="1266124"/>
            </a:xfrm>
            <a:custGeom>
              <a:avLst/>
              <a:gdLst/>
              <a:ahLst/>
              <a:cxnLst/>
              <a:rect l="l" t="t" r="r" b="b"/>
              <a:pathLst>
                <a:path w="1255507" h="1266124">
                  <a:moveTo>
                    <a:pt x="82827" y="0"/>
                  </a:moveTo>
                  <a:lnTo>
                    <a:pt x="1172679" y="0"/>
                  </a:lnTo>
                  <a:cubicBezTo>
                    <a:pt x="1194646" y="0"/>
                    <a:pt x="1215714" y="8726"/>
                    <a:pt x="1231247" y="24260"/>
                  </a:cubicBezTo>
                  <a:cubicBezTo>
                    <a:pt x="1246780" y="39793"/>
                    <a:pt x="1255507" y="60860"/>
                    <a:pt x="1255507" y="82827"/>
                  </a:cubicBezTo>
                  <a:lnTo>
                    <a:pt x="1255507" y="1183297"/>
                  </a:lnTo>
                  <a:cubicBezTo>
                    <a:pt x="1255507" y="1229041"/>
                    <a:pt x="1218423" y="1266124"/>
                    <a:pt x="1172679" y="1266124"/>
                  </a:cubicBezTo>
                  <a:lnTo>
                    <a:pt x="82827" y="1266124"/>
                  </a:lnTo>
                  <a:cubicBezTo>
                    <a:pt x="60860" y="1266124"/>
                    <a:pt x="39793" y="1257397"/>
                    <a:pt x="24260" y="1241864"/>
                  </a:cubicBezTo>
                  <a:cubicBezTo>
                    <a:pt x="8726" y="1226331"/>
                    <a:pt x="0" y="1205264"/>
                    <a:pt x="0" y="1183297"/>
                  </a:cubicBezTo>
                  <a:lnTo>
                    <a:pt x="0" y="82827"/>
                  </a:lnTo>
                  <a:cubicBezTo>
                    <a:pt x="0" y="60860"/>
                    <a:pt x="8726" y="39793"/>
                    <a:pt x="24260" y="24260"/>
                  </a:cubicBezTo>
                  <a:cubicBezTo>
                    <a:pt x="39793" y="8726"/>
                    <a:pt x="60860" y="0"/>
                    <a:pt x="828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DBE3EB">
                    <a:alpha val="100000"/>
                  </a:srgbClr>
                </a:gs>
              </a:gsLst>
              <a:lin ang="5400000"/>
            </a:gradFill>
            <a:ln w="9525" cap="rnd">
              <a:gradFill>
                <a:gsLst>
                  <a:gs pos="0">
                    <a:srgbClr val="626262">
                      <a:alpha val="100000"/>
                    </a:srgbClr>
                  </a:gs>
                  <a:gs pos="25000">
                    <a:srgbClr val="C8C8C8">
                      <a:alpha val="100000"/>
                    </a:srgbClr>
                  </a:gs>
                  <a:gs pos="50000">
                    <a:srgbClr val="636363">
                      <a:alpha val="100000"/>
                    </a:srgbClr>
                  </a:gs>
                  <a:gs pos="75000">
                    <a:srgbClr val="C8C8C8">
                      <a:alpha val="100000"/>
                    </a:srgbClr>
                  </a:gs>
                  <a:gs pos="100000">
                    <a:srgbClr val="63636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1255507" cy="1332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74782" y="9333973"/>
            <a:ext cx="4767001" cy="4229733"/>
            <a:chOff x="0" y="0"/>
            <a:chExt cx="1255507" cy="111400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55507" cy="1114004"/>
            </a:xfrm>
            <a:custGeom>
              <a:avLst/>
              <a:gdLst/>
              <a:ahLst/>
              <a:cxnLst/>
              <a:rect l="l" t="t" r="r" b="b"/>
              <a:pathLst>
                <a:path w="1255507" h="1114004">
                  <a:moveTo>
                    <a:pt x="82827" y="0"/>
                  </a:moveTo>
                  <a:lnTo>
                    <a:pt x="1172679" y="0"/>
                  </a:lnTo>
                  <a:cubicBezTo>
                    <a:pt x="1194646" y="0"/>
                    <a:pt x="1215714" y="8726"/>
                    <a:pt x="1231247" y="24260"/>
                  </a:cubicBezTo>
                  <a:cubicBezTo>
                    <a:pt x="1246780" y="39793"/>
                    <a:pt x="1255507" y="60860"/>
                    <a:pt x="1255507" y="82827"/>
                  </a:cubicBezTo>
                  <a:lnTo>
                    <a:pt x="1255507" y="1031176"/>
                  </a:lnTo>
                  <a:cubicBezTo>
                    <a:pt x="1255507" y="1076921"/>
                    <a:pt x="1218423" y="1114004"/>
                    <a:pt x="1172679" y="1114004"/>
                  </a:cubicBezTo>
                  <a:lnTo>
                    <a:pt x="82827" y="1114004"/>
                  </a:lnTo>
                  <a:cubicBezTo>
                    <a:pt x="60860" y="1114004"/>
                    <a:pt x="39793" y="1105277"/>
                    <a:pt x="24260" y="1089744"/>
                  </a:cubicBezTo>
                  <a:cubicBezTo>
                    <a:pt x="8726" y="1074211"/>
                    <a:pt x="0" y="1053144"/>
                    <a:pt x="0" y="1031176"/>
                  </a:cubicBezTo>
                  <a:lnTo>
                    <a:pt x="0" y="82827"/>
                  </a:lnTo>
                  <a:cubicBezTo>
                    <a:pt x="0" y="60860"/>
                    <a:pt x="8726" y="39793"/>
                    <a:pt x="24260" y="24260"/>
                  </a:cubicBezTo>
                  <a:cubicBezTo>
                    <a:pt x="39793" y="8726"/>
                    <a:pt x="60860" y="0"/>
                    <a:pt x="828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DBE3EB">
                    <a:alpha val="100000"/>
                  </a:srgbClr>
                </a:gs>
              </a:gsLst>
              <a:lin ang="5400000"/>
            </a:gradFill>
            <a:ln w="9525" cap="rnd">
              <a:gradFill>
                <a:gsLst>
                  <a:gs pos="0">
                    <a:srgbClr val="626262">
                      <a:alpha val="100000"/>
                    </a:srgbClr>
                  </a:gs>
                  <a:gs pos="25000">
                    <a:srgbClr val="C8C8C8">
                      <a:alpha val="100000"/>
                    </a:srgbClr>
                  </a:gs>
                  <a:gs pos="50000">
                    <a:srgbClr val="636363">
                      <a:alpha val="100000"/>
                    </a:srgbClr>
                  </a:gs>
                  <a:gs pos="75000">
                    <a:srgbClr val="C8C8C8">
                      <a:alpha val="100000"/>
                    </a:srgbClr>
                  </a:gs>
                  <a:gs pos="100000">
                    <a:srgbClr val="63636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1255507" cy="1180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201896" y="3995826"/>
            <a:ext cx="4727117" cy="4776742"/>
            <a:chOff x="0" y="0"/>
            <a:chExt cx="732354" cy="7400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2354" cy="740042"/>
            </a:xfrm>
            <a:custGeom>
              <a:avLst/>
              <a:gdLst/>
              <a:ahLst/>
              <a:cxnLst/>
              <a:rect l="l" t="t" r="r" b="b"/>
              <a:pathLst>
                <a:path w="732354" h="740042">
                  <a:moveTo>
                    <a:pt x="76975" y="0"/>
                  </a:moveTo>
                  <a:lnTo>
                    <a:pt x="655379" y="0"/>
                  </a:lnTo>
                  <a:cubicBezTo>
                    <a:pt x="697891" y="0"/>
                    <a:pt x="732354" y="34463"/>
                    <a:pt x="732354" y="76975"/>
                  </a:cubicBezTo>
                  <a:lnTo>
                    <a:pt x="732354" y="663067"/>
                  </a:lnTo>
                  <a:cubicBezTo>
                    <a:pt x="732354" y="705579"/>
                    <a:pt x="697891" y="740042"/>
                    <a:pt x="655379" y="740042"/>
                  </a:cubicBezTo>
                  <a:lnTo>
                    <a:pt x="76975" y="740042"/>
                  </a:lnTo>
                  <a:cubicBezTo>
                    <a:pt x="34463" y="740042"/>
                    <a:pt x="0" y="705579"/>
                    <a:pt x="0" y="663067"/>
                  </a:cubicBezTo>
                  <a:lnTo>
                    <a:pt x="0" y="76975"/>
                  </a:lnTo>
                  <a:cubicBezTo>
                    <a:pt x="0" y="34463"/>
                    <a:pt x="34463" y="0"/>
                    <a:pt x="76975" y="0"/>
                  </a:cubicBezTo>
                  <a:close/>
                </a:path>
              </a:pathLst>
            </a:custGeom>
            <a:blipFill>
              <a:blip r:embed="rId6"/>
              <a:stretch>
                <a:fillRect l="-25718" r="-2571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Freeform 33"/>
          <p:cNvSpPr/>
          <p:nvPr/>
        </p:nvSpPr>
        <p:spPr>
          <a:xfrm>
            <a:off x="12149293" y="2986676"/>
            <a:ext cx="615670" cy="615670"/>
          </a:xfrm>
          <a:custGeom>
            <a:avLst/>
            <a:gdLst/>
            <a:ahLst/>
            <a:cxnLst/>
            <a:rect l="l" t="t" r="r" b="b"/>
            <a:pathLst>
              <a:path w="615670" h="615670">
                <a:moveTo>
                  <a:pt x="0" y="0"/>
                </a:moveTo>
                <a:lnTo>
                  <a:pt x="615670" y="0"/>
                </a:lnTo>
                <a:lnTo>
                  <a:pt x="615670" y="615671"/>
                </a:lnTo>
                <a:lnTo>
                  <a:pt x="0" y="61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12174782" y="3012166"/>
            <a:ext cx="564692" cy="564692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4500"/>
                  </a:srgbClr>
                </a:gs>
                <a:gs pos="100000">
                  <a:srgbClr val="FFFEFF">
                    <a:alpha val="65000"/>
                  </a:srgbClr>
                </a:gs>
              </a:gsLst>
              <a:lin ang="0"/>
            </a:gradFill>
            <a:ln w="9525" cap="sq">
              <a:gradFill>
                <a:gsLst>
                  <a:gs pos="0">
                    <a:srgbClr val="626262">
                      <a:alpha val="100000"/>
                    </a:srgbClr>
                  </a:gs>
                  <a:gs pos="25000">
                    <a:srgbClr val="C8C8C8">
                      <a:alpha val="100000"/>
                    </a:srgbClr>
                  </a:gs>
                  <a:gs pos="50000">
                    <a:srgbClr val="636363">
                      <a:alpha val="100000"/>
                    </a:srgbClr>
                  </a:gs>
                  <a:gs pos="75000">
                    <a:srgbClr val="C8C8C8">
                      <a:alpha val="100000"/>
                    </a:srgbClr>
                  </a:gs>
                  <a:gs pos="100000">
                    <a:srgbClr val="636363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37" name="AutoShape 37"/>
          <p:cNvSpPr/>
          <p:nvPr/>
        </p:nvSpPr>
        <p:spPr>
          <a:xfrm>
            <a:off x="12308319" y="3209831"/>
            <a:ext cx="291925" cy="0"/>
          </a:xfrm>
          <a:prstGeom prst="line">
            <a:avLst/>
          </a:prstGeom>
          <a:ln w="19050" cap="flat">
            <a:solidFill>
              <a:srgbClr val="34343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>
            <a:off x="12308319" y="3290912"/>
            <a:ext cx="291925" cy="0"/>
          </a:xfrm>
          <a:prstGeom prst="line">
            <a:avLst/>
          </a:prstGeom>
          <a:ln w="19050" cap="flat">
            <a:solidFill>
              <a:srgbClr val="34343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>
            <a:off x="12308319" y="3371994"/>
            <a:ext cx="291925" cy="0"/>
          </a:xfrm>
          <a:prstGeom prst="line">
            <a:avLst/>
          </a:prstGeom>
          <a:ln w="19050" cap="flat">
            <a:solidFill>
              <a:srgbClr val="34343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13114795" y="3012166"/>
            <a:ext cx="3835174" cy="584163"/>
            <a:chOff x="0" y="0"/>
            <a:chExt cx="1010087" cy="15385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10087" cy="153854"/>
            </a:xfrm>
            <a:custGeom>
              <a:avLst/>
              <a:gdLst/>
              <a:ahLst/>
              <a:cxnLst/>
              <a:rect l="l" t="t" r="r" b="b"/>
              <a:pathLst>
                <a:path w="1010087" h="153854">
                  <a:moveTo>
                    <a:pt x="76927" y="0"/>
                  </a:moveTo>
                  <a:lnTo>
                    <a:pt x="933160" y="0"/>
                  </a:lnTo>
                  <a:cubicBezTo>
                    <a:pt x="953562" y="0"/>
                    <a:pt x="973129" y="8105"/>
                    <a:pt x="987556" y="22531"/>
                  </a:cubicBezTo>
                  <a:cubicBezTo>
                    <a:pt x="1001982" y="36958"/>
                    <a:pt x="1010087" y="56525"/>
                    <a:pt x="1010087" y="76927"/>
                  </a:cubicBezTo>
                  <a:lnTo>
                    <a:pt x="1010087" y="76927"/>
                  </a:lnTo>
                  <a:cubicBezTo>
                    <a:pt x="1010087" y="119412"/>
                    <a:pt x="975646" y="153854"/>
                    <a:pt x="933160" y="153854"/>
                  </a:cubicBezTo>
                  <a:lnTo>
                    <a:pt x="76927" y="153854"/>
                  </a:lnTo>
                  <a:cubicBezTo>
                    <a:pt x="34441" y="153854"/>
                    <a:pt x="0" y="119412"/>
                    <a:pt x="0" y="76927"/>
                  </a:cubicBezTo>
                  <a:lnTo>
                    <a:pt x="0" y="76927"/>
                  </a:lnTo>
                  <a:cubicBezTo>
                    <a:pt x="0" y="34441"/>
                    <a:pt x="34441" y="0"/>
                    <a:pt x="769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4500"/>
                  </a:srgbClr>
                </a:gs>
                <a:gs pos="100000">
                  <a:srgbClr val="FFFEFF">
                    <a:alpha val="65000"/>
                  </a:srgbClr>
                </a:gs>
              </a:gsLst>
              <a:lin ang="0"/>
            </a:gradFill>
            <a:ln w="9525" cap="rnd">
              <a:gradFill>
                <a:gsLst>
                  <a:gs pos="0">
                    <a:srgbClr val="626262">
                      <a:alpha val="100000"/>
                    </a:srgbClr>
                  </a:gs>
                  <a:gs pos="25000">
                    <a:srgbClr val="C8C8C8">
                      <a:alpha val="100000"/>
                    </a:srgbClr>
                  </a:gs>
                  <a:gs pos="50000">
                    <a:srgbClr val="636363">
                      <a:alpha val="100000"/>
                    </a:srgbClr>
                  </a:gs>
                  <a:gs pos="75000">
                    <a:srgbClr val="C8C8C8">
                      <a:alpha val="100000"/>
                    </a:srgbClr>
                  </a:gs>
                  <a:gs pos="100000">
                    <a:srgbClr val="636363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1010087" cy="220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43" name="AutoShape 43"/>
          <p:cNvSpPr/>
          <p:nvPr/>
        </p:nvSpPr>
        <p:spPr>
          <a:xfrm>
            <a:off x="12633929" y="9857842"/>
            <a:ext cx="1459577" cy="0"/>
          </a:xfrm>
          <a:prstGeom prst="line">
            <a:avLst/>
          </a:prstGeom>
          <a:ln w="238125" cap="rnd">
            <a:solidFill>
              <a:srgbClr val="343434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" name="AutoShape 44"/>
          <p:cNvSpPr/>
          <p:nvPr/>
        </p:nvSpPr>
        <p:spPr>
          <a:xfrm>
            <a:off x="12633929" y="10299590"/>
            <a:ext cx="3744167" cy="0"/>
          </a:xfrm>
          <a:prstGeom prst="line">
            <a:avLst/>
          </a:prstGeom>
          <a:ln w="95250" cap="rnd">
            <a:solidFill>
              <a:srgbClr val="343434">
                <a:alpha val="1764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13361956" y="3057612"/>
            <a:ext cx="3567056" cy="46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E-COMMERCE DATA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37347" y="280830"/>
            <a:ext cx="13013306" cy="125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6943" spc="-2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Cleaning &amp; Preprocessing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419063" y="-448043"/>
            <a:ext cx="9455247" cy="11118486"/>
            <a:chOff x="0" y="0"/>
            <a:chExt cx="12606995" cy="14824648"/>
          </a:xfrm>
        </p:grpSpPr>
        <p:sp>
          <p:nvSpPr>
            <p:cNvPr id="4" name="AutoShape 4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20824" y="1934057"/>
            <a:ext cx="4224901" cy="3703928"/>
            <a:chOff x="0" y="0"/>
            <a:chExt cx="778592" cy="6825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8592" cy="682584"/>
            </a:xfrm>
            <a:custGeom>
              <a:avLst/>
              <a:gdLst/>
              <a:ahLst/>
              <a:cxnLst/>
              <a:rect l="l" t="t" r="r" b="b"/>
              <a:pathLst>
                <a:path w="778592" h="682584">
                  <a:moveTo>
                    <a:pt x="86125" y="0"/>
                  </a:moveTo>
                  <a:lnTo>
                    <a:pt x="692467" y="0"/>
                  </a:lnTo>
                  <a:cubicBezTo>
                    <a:pt x="715309" y="0"/>
                    <a:pt x="737215" y="9074"/>
                    <a:pt x="753367" y="25225"/>
                  </a:cubicBezTo>
                  <a:cubicBezTo>
                    <a:pt x="769518" y="41377"/>
                    <a:pt x="778592" y="63283"/>
                    <a:pt x="778592" y="86125"/>
                  </a:cubicBezTo>
                  <a:lnTo>
                    <a:pt x="778592" y="596459"/>
                  </a:lnTo>
                  <a:cubicBezTo>
                    <a:pt x="778592" y="644024"/>
                    <a:pt x="740033" y="682584"/>
                    <a:pt x="692467" y="682584"/>
                  </a:cubicBezTo>
                  <a:lnTo>
                    <a:pt x="86125" y="682584"/>
                  </a:lnTo>
                  <a:cubicBezTo>
                    <a:pt x="63283" y="682584"/>
                    <a:pt x="41377" y="673510"/>
                    <a:pt x="25225" y="657358"/>
                  </a:cubicBezTo>
                  <a:cubicBezTo>
                    <a:pt x="9074" y="641207"/>
                    <a:pt x="0" y="619301"/>
                    <a:pt x="0" y="596459"/>
                  </a:cubicBezTo>
                  <a:lnTo>
                    <a:pt x="0" y="86125"/>
                  </a:lnTo>
                  <a:cubicBezTo>
                    <a:pt x="0" y="63283"/>
                    <a:pt x="9074" y="41377"/>
                    <a:pt x="25225" y="25225"/>
                  </a:cubicBezTo>
                  <a:cubicBezTo>
                    <a:pt x="41377" y="9074"/>
                    <a:pt x="63283" y="0"/>
                    <a:pt x="8612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89500"/>
                  </a:srgbClr>
                </a:gs>
                <a:gs pos="100000">
                  <a:srgbClr val="FFFEFF">
                    <a:alpha val="90000"/>
                  </a:srgbClr>
                </a:gs>
              </a:gsLst>
              <a:lin ang="0"/>
            </a:gra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778592" cy="74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396149" y="2097021"/>
            <a:ext cx="3274251" cy="115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8"/>
              </a:lnSpc>
            </a:pPr>
            <a:r>
              <a:rPr lang="en-US" sz="3770" b="1" spc="-131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Removing</a:t>
            </a:r>
          </a:p>
          <a:p>
            <a:pPr algn="ctr">
              <a:lnSpc>
                <a:spcPts val="4448"/>
              </a:lnSpc>
            </a:pPr>
            <a:r>
              <a:rPr lang="en-US" sz="3770" b="1" spc="-131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Duplicates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12328" y="3395290"/>
            <a:ext cx="3669607" cy="166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sz="2198" i="1" spc="-7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Identified and deleted duplicate order_id entries to ensure each transaction was counted once.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031550" y="1934057"/>
            <a:ext cx="4224901" cy="3703928"/>
            <a:chOff x="0" y="0"/>
            <a:chExt cx="778592" cy="6825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8592" cy="682584"/>
            </a:xfrm>
            <a:custGeom>
              <a:avLst/>
              <a:gdLst/>
              <a:ahLst/>
              <a:cxnLst/>
              <a:rect l="l" t="t" r="r" b="b"/>
              <a:pathLst>
                <a:path w="778592" h="682584">
                  <a:moveTo>
                    <a:pt x="86125" y="0"/>
                  </a:moveTo>
                  <a:lnTo>
                    <a:pt x="692467" y="0"/>
                  </a:lnTo>
                  <a:cubicBezTo>
                    <a:pt x="715309" y="0"/>
                    <a:pt x="737215" y="9074"/>
                    <a:pt x="753367" y="25225"/>
                  </a:cubicBezTo>
                  <a:cubicBezTo>
                    <a:pt x="769518" y="41377"/>
                    <a:pt x="778592" y="63283"/>
                    <a:pt x="778592" y="86125"/>
                  </a:cubicBezTo>
                  <a:lnTo>
                    <a:pt x="778592" y="596459"/>
                  </a:lnTo>
                  <a:cubicBezTo>
                    <a:pt x="778592" y="644024"/>
                    <a:pt x="740033" y="682584"/>
                    <a:pt x="692467" y="682584"/>
                  </a:cubicBezTo>
                  <a:lnTo>
                    <a:pt x="86125" y="682584"/>
                  </a:lnTo>
                  <a:cubicBezTo>
                    <a:pt x="63283" y="682584"/>
                    <a:pt x="41377" y="673510"/>
                    <a:pt x="25225" y="657358"/>
                  </a:cubicBezTo>
                  <a:cubicBezTo>
                    <a:pt x="9074" y="641207"/>
                    <a:pt x="0" y="619301"/>
                    <a:pt x="0" y="596459"/>
                  </a:cubicBezTo>
                  <a:lnTo>
                    <a:pt x="0" y="86125"/>
                  </a:lnTo>
                  <a:cubicBezTo>
                    <a:pt x="0" y="63283"/>
                    <a:pt x="9074" y="41377"/>
                    <a:pt x="25225" y="25225"/>
                  </a:cubicBezTo>
                  <a:cubicBezTo>
                    <a:pt x="41377" y="9074"/>
                    <a:pt x="63283" y="0"/>
                    <a:pt x="8612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89500"/>
                  </a:srgbClr>
                </a:gs>
                <a:gs pos="100000">
                  <a:srgbClr val="FFFEFF">
                    <a:alpha val="90000"/>
                  </a:srgbClr>
                </a:gs>
              </a:gsLst>
              <a:lin ang="0"/>
            </a:gra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778592" cy="74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031550" y="2097021"/>
            <a:ext cx="4224901" cy="115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8"/>
              </a:lnSpc>
            </a:pPr>
            <a:r>
              <a:rPr lang="en-US" sz="3770" b="1" spc="-131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Handling Missing</a:t>
            </a:r>
          </a:p>
          <a:p>
            <a:pPr algn="ctr">
              <a:lnSpc>
                <a:spcPts val="4448"/>
              </a:lnSpc>
            </a:pPr>
            <a:r>
              <a:rPr lang="en-US" sz="3770" b="1" spc="-131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Values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23054" y="3395290"/>
            <a:ext cx="3669607" cy="2083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4"/>
              </a:lnSpc>
            </a:pPr>
            <a:r>
              <a:rPr lang="en-US" sz="2175" i="1" spc="-78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Null values in return_reason were filled with 'No Return'. Missing delivery days were imputed using category averages.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43513" y="1934057"/>
            <a:ext cx="4224901" cy="3703928"/>
            <a:chOff x="0" y="0"/>
            <a:chExt cx="778592" cy="6825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8592" cy="682584"/>
            </a:xfrm>
            <a:custGeom>
              <a:avLst/>
              <a:gdLst/>
              <a:ahLst/>
              <a:cxnLst/>
              <a:rect l="l" t="t" r="r" b="b"/>
              <a:pathLst>
                <a:path w="778592" h="682584">
                  <a:moveTo>
                    <a:pt x="86125" y="0"/>
                  </a:moveTo>
                  <a:lnTo>
                    <a:pt x="692467" y="0"/>
                  </a:lnTo>
                  <a:cubicBezTo>
                    <a:pt x="715309" y="0"/>
                    <a:pt x="737215" y="9074"/>
                    <a:pt x="753367" y="25225"/>
                  </a:cubicBezTo>
                  <a:cubicBezTo>
                    <a:pt x="769518" y="41377"/>
                    <a:pt x="778592" y="63283"/>
                    <a:pt x="778592" y="86125"/>
                  </a:cubicBezTo>
                  <a:lnTo>
                    <a:pt x="778592" y="596459"/>
                  </a:lnTo>
                  <a:cubicBezTo>
                    <a:pt x="778592" y="644024"/>
                    <a:pt x="740033" y="682584"/>
                    <a:pt x="692467" y="682584"/>
                  </a:cubicBezTo>
                  <a:lnTo>
                    <a:pt x="86125" y="682584"/>
                  </a:lnTo>
                  <a:cubicBezTo>
                    <a:pt x="63283" y="682584"/>
                    <a:pt x="41377" y="673510"/>
                    <a:pt x="25225" y="657358"/>
                  </a:cubicBezTo>
                  <a:cubicBezTo>
                    <a:pt x="9074" y="641207"/>
                    <a:pt x="0" y="619301"/>
                    <a:pt x="0" y="596459"/>
                  </a:cubicBezTo>
                  <a:lnTo>
                    <a:pt x="0" y="86125"/>
                  </a:lnTo>
                  <a:cubicBezTo>
                    <a:pt x="0" y="63283"/>
                    <a:pt x="9074" y="41377"/>
                    <a:pt x="25225" y="25225"/>
                  </a:cubicBezTo>
                  <a:cubicBezTo>
                    <a:pt x="41377" y="9074"/>
                    <a:pt x="63283" y="0"/>
                    <a:pt x="8612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89500"/>
                  </a:srgbClr>
                </a:gs>
                <a:gs pos="100000">
                  <a:srgbClr val="FFFEFF">
                    <a:alpha val="90000"/>
                  </a:srgbClr>
                </a:gs>
              </a:gsLst>
              <a:lin ang="0"/>
            </a:gra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778592" cy="74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618838" y="2097021"/>
            <a:ext cx="3274251" cy="115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8"/>
              </a:lnSpc>
            </a:pPr>
            <a:r>
              <a:rPr lang="en-US" sz="3770" b="1" spc="-131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Data Type Correction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35017" y="3395290"/>
            <a:ext cx="3669607" cy="249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sz="2198" i="1" spc="-7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Converted date columns to proper DateTime format. Ensured revenue and profit columns were numeric </a:t>
            </a:r>
          </a:p>
          <a:p>
            <a:pPr algn="ctr">
              <a:lnSpc>
                <a:spcPts val="3319"/>
              </a:lnSpc>
            </a:pPr>
            <a:r>
              <a:rPr lang="en-US" sz="2198" i="1" spc="-7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(not text).</a:t>
            </a:r>
          </a:p>
          <a:p>
            <a:pPr algn="ctr">
              <a:lnSpc>
                <a:spcPts val="3319"/>
              </a:lnSpc>
            </a:pPr>
            <a:endParaRPr lang="en-US" sz="2198" i="1" spc="-79">
              <a:solidFill>
                <a:srgbClr val="000000"/>
              </a:solidFill>
              <a:latin typeface="Poppins Light Italics"/>
              <a:ea typeface="Poppins Light Italics"/>
              <a:cs typeface="Poppins Light Italics"/>
              <a:sym typeface="Poppins Light Italic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920824" y="6016714"/>
            <a:ext cx="4224901" cy="3703928"/>
            <a:chOff x="0" y="0"/>
            <a:chExt cx="778592" cy="6825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78592" cy="682584"/>
            </a:xfrm>
            <a:custGeom>
              <a:avLst/>
              <a:gdLst/>
              <a:ahLst/>
              <a:cxnLst/>
              <a:rect l="l" t="t" r="r" b="b"/>
              <a:pathLst>
                <a:path w="778592" h="682584">
                  <a:moveTo>
                    <a:pt x="86125" y="0"/>
                  </a:moveTo>
                  <a:lnTo>
                    <a:pt x="692467" y="0"/>
                  </a:lnTo>
                  <a:cubicBezTo>
                    <a:pt x="715309" y="0"/>
                    <a:pt x="737215" y="9074"/>
                    <a:pt x="753367" y="25225"/>
                  </a:cubicBezTo>
                  <a:cubicBezTo>
                    <a:pt x="769518" y="41377"/>
                    <a:pt x="778592" y="63283"/>
                    <a:pt x="778592" y="86125"/>
                  </a:cubicBezTo>
                  <a:lnTo>
                    <a:pt x="778592" y="596459"/>
                  </a:lnTo>
                  <a:cubicBezTo>
                    <a:pt x="778592" y="644024"/>
                    <a:pt x="740033" y="682584"/>
                    <a:pt x="692467" y="682584"/>
                  </a:cubicBezTo>
                  <a:lnTo>
                    <a:pt x="86125" y="682584"/>
                  </a:lnTo>
                  <a:cubicBezTo>
                    <a:pt x="63283" y="682584"/>
                    <a:pt x="41377" y="673510"/>
                    <a:pt x="25225" y="657358"/>
                  </a:cubicBezTo>
                  <a:cubicBezTo>
                    <a:pt x="9074" y="641207"/>
                    <a:pt x="0" y="619301"/>
                    <a:pt x="0" y="596459"/>
                  </a:cubicBezTo>
                  <a:lnTo>
                    <a:pt x="0" y="86125"/>
                  </a:lnTo>
                  <a:cubicBezTo>
                    <a:pt x="0" y="63283"/>
                    <a:pt x="9074" y="41377"/>
                    <a:pt x="25225" y="25225"/>
                  </a:cubicBezTo>
                  <a:cubicBezTo>
                    <a:pt x="41377" y="9074"/>
                    <a:pt x="63283" y="0"/>
                    <a:pt x="8612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89500"/>
                  </a:srgbClr>
                </a:gs>
                <a:gs pos="100000">
                  <a:srgbClr val="FFFEFF">
                    <a:alpha val="90000"/>
                  </a:srgbClr>
                </a:gs>
              </a:gsLst>
              <a:lin ang="0"/>
            </a:gra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778592" cy="74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920824" y="6179679"/>
            <a:ext cx="4224901" cy="115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8"/>
              </a:lnSpc>
            </a:pPr>
            <a:r>
              <a:rPr lang="en-US" sz="3770" b="1" spc="-131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Derived New Columns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12328" y="7477947"/>
            <a:ext cx="3669607" cy="2083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4"/>
              </a:lnSpc>
            </a:pPr>
            <a:r>
              <a:rPr lang="en-US" sz="2175" i="1" spc="-78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Created: age_group (from customer age), YearMonth (from order date), Return Flag (binary 0/1), Profit Status (Profit/Loss).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031550" y="6016714"/>
            <a:ext cx="4224901" cy="3703928"/>
            <a:chOff x="0" y="0"/>
            <a:chExt cx="778592" cy="68258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78592" cy="682584"/>
            </a:xfrm>
            <a:custGeom>
              <a:avLst/>
              <a:gdLst/>
              <a:ahLst/>
              <a:cxnLst/>
              <a:rect l="l" t="t" r="r" b="b"/>
              <a:pathLst>
                <a:path w="778592" h="682584">
                  <a:moveTo>
                    <a:pt x="86125" y="0"/>
                  </a:moveTo>
                  <a:lnTo>
                    <a:pt x="692467" y="0"/>
                  </a:lnTo>
                  <a:cubicBezTo>
                    <a:pt x="715309" y="0"/>
                    <a:pt x="737215" y="9074"/>
                    <a:pt x="753367" y="25225"/>
                  </a:cubicBezTo>
                  <a:cubicBezTo>
                    <a:pt x="769518" y="41377"/>
                    <a:pt x="778592" y="63283"/>
                    <a:pt x="778592" y="86125"/>
                  </a:cubicBezTo>
                  <a:lnTo>
                    <a:pt x="778592" y="596459"/>
                  </a:lnTo>
                  <a:cubicBezTo>
                    <a:pt x="778592" y="644024"/>
                    <a:pt x="740033" y="682584"/>
                    <a:pt x="692467" y="682584"/>
                  </a:cubicBezTo>
                  <a:lnTo>
                    <a:pt x="86125" y="682584"/>
                  </a:lnTo>
                  <a:cubicBezTo>
                    <a:pt x="63283" y="682584"/>
                    <a:pt x="41377" y="673510"/>
                    <a:pt x="25225" y="657358"/>
                  </a:cubicBezTo>
                  <a:cubicBezTo>
                    <a:pt x="9074" y="641207"/>
                    <a:pt x="0" y="619301"/>
                    <a:pt x="0" y="596459"/>
                  </a:cubicBezTo>
                  <a:lnTo>
                    <a:pt x="0" y="86125"/>
                  </a:lnTo>
                  <a:cubicBezTo>
                    <a:pt x="0" y="63283"/>
                    <a:pt x="9074" y="41377"/>
                    <a:pt x="25225" y="25225"/>
                  </a:cubicBezTo>
                  <a:cubicBezTo>
                    <a:pt x="41377" y="9074"/>
                    <a:pt x="63283" y="0"/>
                    <a:pt x="8612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89500"/>
                  </a:srgbClr>
                </a:gs>
                <a:gs pos="100000">
                  <a:srgbClr val="FFFEFF">
                    <a:alpha val="90000"/>
                  </a:srgbClr>
                </a:gs>
              </a:gsLst>
              <a:lin ang="0"/>
            </a:gra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778592" cy="74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506874" y="6179679"/>
            <a:ext cx="3274251" cy="115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8"/>
              </a:lnSpc>
            </a:pPr>
            <a:r>
              <a:rPr lang="en-US" sz="3770" b="1" spc="-131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Standardized Categories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23054" y="7477947"/>
            <a:ext cx="3669607" cy="208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sz="2198" i="1" spc="-7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Normalized text fields — removed trailing spaces, fixed inconsistent spelling in region and category columns.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142275" y="6016714"/>
            <a:ext cx="4224901" cy="3703928"/>
            <a:chOff x="0" y="0"/>
            <a:chExt cx="778592" cy="68258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78592" cy="682584"/>
            </a:xfrm>
            <a:custGeom>
              <a:avLst/>
              <a:gdLst/>
              <a:ahLst/>
              <a:cxnLst/>
              <a:rect l="l" t="t" r="r" b="b"/>
              <a:pathLst>
                <a:path w="778592" h="682584">
                  <a:moveTo>
                    <a:pt x="86125" y="0"/>
                  </a:moveTo>
                  <a:lnTo>
                    <a:pt x="692467" y="0"/>
                  </a:lnTo>
                  <a:cubicBezTo>
                    <a:pt x="715309" y="0"/>
                    <a:pt x="737215" y="9074"/>
                    <a:pt x="753367" y="25225"/>
                  </a:cubicBezTo>
                  <a:cubicBezTo>
                    <a:pt x="769518" y="41377"/>
                    <a:pt x="778592" y="63283"/>
                    <a:pt x="778592" y="86125"/>
                  </a:cubicBezTo>
                  <a:lnTo>
                    <a:pt x="778592" y="596459"/>
                  </a:lnTo>
                  <a:cubicBezTo>
                    <a:pt x="778592" y="644024"/>
                    <a:pt x="740033" y="682584"/>
                    <a:pt x="692467" y="682584"/>
                  </a:cubicBezTo>
                  <a:lnTo>
                    <a:pt x="86125" y="682584"/>
                  </a:lnTo>
                  <a:cubicBezTo>
                    <a:pt x="63283" y="682584"/>
                    <a:pt x="41377" y="673510"/>
                    <a:pt x="25225" y="657358"/>
                  </a:cubicBezTo>
                  <a:cubicBezTo>
                    <a:pt x="9074" y="641207"/>
                    <a:pt x="0" y="619301"/>
                    <a:pt x="0" y="596459"/>
                  </a:cubicBezTo>
                  <a:lnTo>
                    <a:pt x="0" y="86125"/>
                  </a:lnTo>
                  <a:cubicBezTo>
                    <a:pt x="0" y="63283"/>
                    <a:pt x="9074" y="41377"/>
                    <a:pt x="25225" y="25225"/>
                  </a:cubicBezTo>
                  <a:cubicBezTo>
                    <a:pt x="41377" y="9074"/>
                    <a:pt x="63283" y="0"/>
                    <a:pt x="8612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89500"/>
                  </a:srgbClr>
                </a:gs>
                <a:gs pos="100000">
                  <a:srgbClr val="FFFEFF">
                    <a:alpha val="90000"/>
                  </a:srgbClr>
                </a:gs>
              </a:gsLst>
              <a:lin ang="0"/>
            </a:gradFill>
            <a:ln w="9525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778592" cy="74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617600" y="6179679"/>
            <a:ext cx="3274251" cy="115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8"/>
              </a:lnSpc>
            </a:pPr>
            <a:r>
              <a:rPr lang="en-US" sz="3770" b="1" spc="-131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 Review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433780" y="7477947"/>
            <a:ext cx="3669607" cy="208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sz="2198" i="1" spc="-7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Reviewed extreme values in delivery_days and total_revenue. Kept valid outliers; removed data entry errors.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BE3E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90488" y="-448043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21475" y="-71923"/>
            <a:ext cx="16823606" cy="189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46"/>
              </a:lnSpc>
            </a:pPr>
            <a:r>
              <a:rPr lang="en-US" sz="10461" spc="-366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Methadology</a:t>
            </a:r>
          </a:p>
        </p:txBody>
      </p:sp>
      <p:sp>
        <p:nvSpPr>
          <p:cNvPr id="7" name="AutoShape 7"/>
          <p:cNvSpPr/>
          <p:nvPr/>
        </p:nvSpPr>
        <p:spPr>
          <a:xfrm>
            <a:off x="12633929" y="10299590"/>
            <a:ext cx="3744167" cy="0"/>
          </a:xfrm>
          <a:prstGeom prst="line">
            <a:avLst/>
          </a:prstGeom>
          <a:ln w="95250" cap="rnd">
            <a:solidFill>
              <a:srgbClr val="343434">
                <a:alpha val="1764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144000" y="3283773"/>
            <a:ext cx="8411803" cy="4518669"/>
          </a:xfrm>
          <a:custGeom>
            <a:avLst/>
            <a:gdLst/>
            <a:ahLst/>
            <a:cxnLst/>
            <a:rect l="l" t="t" r="r" b="b"/>
            <a:pathLst>
              <a:path w="8411803" h="4518669">
                <a:moveTo>
                  <a:pt x="0" y="0"/>
                </a:moveTo>
                <a:lnTo>
                  <a:pt x="8411803" y="0"/>
                </a:lnTo>
                <a:lnTo>
                  <a:pt x="8411803" y="4518669"/>
                </a:lnTo>
                <a:lnTo>
                  <a:pt x="0" y="45186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3303909" y="8527656"/>
            <a:ext cx="3566739" cy="658857"/>
            <a:chOff x="0" y="0"/>
            <a:chExt cx="484767" cy="895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4767" cy="89547"/>
            </a:xfrm>
            <a:custGeom>
              <a:avLst/>
              <a:gdLst/>
              <a:ahLst/>
              <a:cxnLst/>
              <a:rect l="l" t="t" r="r" b="b"/>
              <a:pathLst>
                <a:path w="484767" h="89547">
                  <a:moveTo>
                    <a:pt x="44774" y="0"/>
                  </a:moveTo>
                  <a:lnTo>
                    <a:pt x="439993" y="0"/>
                  </a:lnTo>
                  <a:cubicBezTo>
                    <a:pt x="464721" y="0"/>
                    <a:pt x="484767" y="20046"/>
                    <a:pt x="484767" y="44774"/>
                  </a:cubicBezTo>
                  <a:lnTo>
                    <a:pt x="484767" y="44774"/>
                  </a:lnTo>
                  <a:cubicBezTo>
                    <a:pt x="484767" y="56648"/>
                    <a:pt x="480049" y="68037"/>
                    <a:pt x="471653" y="76433"/>
                  </a:cubicBezTo>
                  <a:cubicBezTo>
                    <a:pt x="463256" y="84830"/>
                    <a:pt x="451868" y="89547"/>
                    <a:pt x="439993" y="89547"/>
                  </a:cubicBezTo>
                  <a:lnTo>
                    <a:pt x="44774" y="89547"/>
                  </a:lnTo>
                  <a:cubicBezTo>
                    <a:pt x="20046" y="89547"/>
                    <a:pt x="0" y="69501"/>
                    <a:pt x="0" y="44774"/>
                  </a:cubicBezTo>
                  <a:lnTo>
                    <a:pt x="0" y="44774"/>
                  </a:lnTo>
                  <a:cubicBezTo>
                    <a:pt x="0" y="20046"/>
                    <a:pt x="20046" y="0"/>
                    <a:pt x="44774" y="0"/>
                  </a:cubicBezTo>
                  <a:close/>
                </a:path>
              </a:pathLst>
            </a:custGeom>
            <a:solidFill>
              <a:srgbClr val="D9E73C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4767" cy="156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188309" y="8527656"/>
            <a:ext cx="2756406" cy="658857"/>
            <a:chOff x="0" y="0"/>
            <a:chExt cx="374632" cy="895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4632" cy="89547"/>
            </a:xfrm>
            <a:custGeom>
              <a:avLst/>
              <a:gdLst/>
              <a:ahLst/>
              <a:cxnLst/>
              <a:rect l="l" t="t" r="r" b="b"/>
              <a:pathLst>
                <a:path w="374632" h="89547">
                  <a:moveTo>
                    <a:pt x="44774" y="0"/>
                  </a:moveTo>
                  <a:lnTo>
                    <a:pt x="329858" y="0"/>
                  </a:lnTo>
                  <a:cubicBezTo>
                    <a:pt x="341733" y="0"/>
                    <a:pt x="353121" y="4717"/>
                    <a:pt x="361518" y="13114"/>
                  </a:cubicBezTo>
                  <a:cubicBezTo>
                    <a:pt x="369914" y="21511"/>
                    <a:pt x="374632" y="32899"/>
                    <a:pt x="374632" y="44774"/>
                  </a:cubicBezTo>
                  <a:lnTo>
                    <a:pt x="374632" y="44774"/>
                  </a:lnTo>
                  <a:cubicBezTo>
                    <a:pt x="374632" y="69501"/>
                    <a:pt x="354586" y="89547"/>
                    <a:pt x="329858" y="89547"/>
                  </a:cubicBezTo>
                  <a:lnTo>
                    <a:pt x="44774" y="89547"/>
                  </a:lnTo>
                  <a:cubicBezTo>
                    <a:pt x="20046" y="89547"/>
                    <a:pt x="0" y="69501"/>
                    <a:pt x="0" y="44774"/>
                  </a:cubicBezTo>
                  <a:lnTo>
                    <a:pt x="0" y="44774"/>
                  </a:lnTo>
                  <a:cubicBezTo>
                    <a:pt x="0" y="20046"/>
                    <a:pt x="20046" y="0"/>
                    <a:pt x="44774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374632" cy="156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1475" y="865029"/>
            <a:ext cx="5804270" cy="993110"/>
            <a:chOff x="0" y="0"/>
            <a:chExt cx="1528697" cy="2615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8697" cy="261560"/>
            </a:xfrm>
            <a:custGeom>
              <a:avLst/>
              <a:gdLst/>
              <a:ahLst/>
              <a:cxnLst/>
              <a:rect l="l" t="t" r="r" b="b"/>
              <a:pathLst>
                <a:path w="1528697" h="261560">
                  <a:moveTo>
                    <a:pt x="130780" y="0"/>
                  </a:moveTo>
                  <a:lnTo>
                    <a:pt x="1397917" y="0"/>
                  </a:lnTo>
                  <a:cubicBezTo>
                    <a:pt x="1432602" y="0"/>
                    <a:pt x="1465866" y="13779"/>
                    <a:pt x="1490392" y="38305"/>
                  </a:cubicBezTo>
                  <a:cubicBezTo>
                    <a:pt x="1514918" y="62831"/>
                    <a:pt x="1528697" y="96095"/>
                    <a:pt x="1528697" y="130780"/>
                  </a:cubicBezTo>
                  <a:lnTo>
                    <a:pt x="1528697" y="130780"/>
                  </a:lnTo>
                  <a:cubicBezTo>
                    <a:pt x="1528697" y="203008"/>
                    <a:pt x="1470145" y="261560"/>
                    <a:pt x="1397917" y="261560"/>
                  </a:cubicBezTo>
                  <a:lnTo>
                    <a:pt x="130780" y="261560"/>
                  </a:lnTo>
                  <a:cubicBezTo>
                    <a:pt x="96095" y="261560"/>
                    <a:pt x="62831" y="247781"/>
                    <a:pt x="38305" y="223255"/>
                  </a:cubicBezTo>
                  <a:cubicBezTo>
                    <a:pt x="13779" y="198729"/>
                    <a:pt x="0" y="165465"/>
                    <a:pt x="0" y="130780"/>
                  </a:cubicBezTo>
                  <a:lnTo>
                    <a:pt x="0" y="130780"/>
                  </a:lnTo>
                  <a:cubicBezTo>
                    <a:pt x="0" y="96095"/>
                    <a:pt x="13779" y="62831"/>
                    <a:pt x="38305" y="38305"/>
                  </a:cubicBezTo>
                  <a:cubicBezTo>
                    <a:pt x="62831" y="13779"/>
                    <a:pt x="96095" y="0"/>
                    <a:pt x="13078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1528697" cy="3472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387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1475" y="2658240"/>
            <a:ext cx="5804270" cy="993110"/>
            <a:chOff x="0" y="0"/>
            <a:chExt cx="1528697" cy="2615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28697" cy="261560"/>
            </a:xfrm>
            <a:custGeom>
              <a:avLst/>
              <a:gdLst/>
              <a:ahLst/>
              <a:cxnLst/>
              <a:rect l="l" t="t" r="r" b="b"/>
              <a:pathLst>
                <a:path w="1528697" h="261560">
                  <a:moveTo>
                    <a:pt x="130780" y="0"/>
                  </a:moveTo>
                  <a:lnTo>
                    <a:pt x="1397917" y="0"/>
                  </a:lnTo>
                  <a:cubicBezTo>
                    <a:pt x="1432602" y="0"/>
                    <a:pt x="1465866" y="13779"/>
                    <a:pt x="1490392" y="38305"/>
                  </a:cubicBezTo>
                  <a:cubicBezTo>
                    <a:pt x="1514918" y="62831"/>
                    <a:pt x="1528697" y="96095"/>
                    <a:pt x="1528697" y="130780"/>
                  </a:cubicBezTo>
                  <a:lnTo>
                    <a:pt x="1528697" y="130780"/>
                  </a:lnTo>
                  <a:cubicBezTo>
                    <a:pt x="1528697" y="203008"/>
                    <a:pt x="1470145" y="261560"/>
                    <a:pt x="1397917" y="261560"/>
                  </a:cubicBezTo>
                  <a:lnTo>
                    <a:pt x="130780" y="261560"/>
                  </a:lnTo>
                  <a:cubicBezTo>
                    <a:pt x="96095" y="261560"/>
                    <a:pt x="62831" y="247781"/>
                    <a:pt x="38305" y="223255"/>
                  </a:cubicBezTo>
                  <a:cubicBezTo>
                    <a:pt x="13779" y="198729"/>
                    <a:pt x="0" y="165465"/>
                    <a:pt x="0" y="130780"/>
                  </a:cubicBezTo>
                  <a:lnTo>
                    <a:pt x="0" y="130780"/>
                  </a:lnTo>
                  <a:cubicBezTo>
                    <a:pt x="0" y="96095"/>
                    <a:pt x="13779" y="62831"/>
                    <a:pt x="38305" y="38305"/>
                  </a:cubicBezTo>
                  <a:cubicBezTo>
                    <a:pt x="62831" y="13779"/>
                    <a:pt x="96095" y="0"/>
                    <a:pt x="130780" y="0"/>
                  </a:cubicBezTo>
                  <a:close/>
                </a:path>
              </a:pathLst>
            </a:custGeom>
            <a:solidFill>
              <a:srgbClr val="D9E73C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1528697" cy="3472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387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9701" y="4451450"/>
            <a:ext cx="6216738" cy="993110"/>
            <a:chOff x="0" y="0"/>
            <a:chExt cx="1637330" cy="2615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37330" cy="261560"/>
            </a:xfrm>
            <a:custGeom>
              <a:avLst/>
              <a:gdLst/>
              <a:ahLst/>
              <a:cxnLst/>
              <a:rect l="l" t="t" r="r" b="b"/>
              <a:pathLst>
                <a:path w="1637330" h="261560">
                  <a:moveTo>
                    <a:pt x="124533" y="0"/>
                  </a:moveTo>
                  <a:lnTo>
                    <a:pt x="1512797" y="0"/>
                  </a:lnTo>
                  <a:cubicBezTo>
                    <a:pt x="1545825" y="0"/>
                    <a:pt x="1577501" y="13120"/>
                    <a:pt x="1600855" y="36475"/>
                  </a:cubicBezTo>
                  <a:cubicBezTo>
                    <a:pt x="1624210" y="59830"/>
                    <a:pt x="1637330" y="91505"/>
                    <a:pt x="1637330" y="124533"/>
                  </a:cubicBezTo>
                  <a:lnTo>
                    <a:pt x="1637330" y="137026"/>
                  </a:lnTo>
                  <a:cubicBezTo>
                    <a:pt x="1637330" y="205804"/>
                    <a:pt x="1581575" y="261560"/>
                    <a:pt x="1512797" y="261560"/>
                  </a:cubicBezTo>
                  <a:lnTo>
                    <a:pt x="124533" y="261560"/>
                  </a:lnTo>
                  <a:cubicBezTo>
                    <a:pt x="91505" y="261560"/>
                    <a:pt x="59830" y="248440"/>
                    <a:pt x="36475" y="225085"/>
                  </a:cubicBezTo>
                  <a:cubicBezTo>
                    <a:pt x="13120" y="201730"/>
                    <a:pt x="0" y="170055"/>
                    <a:pt x="0" y="137026"/>
                  </a:cubicBezTo>
                  <a:lnTo>
                    <a:pt x="0" y="124533"/>
                  </a:lnTo>
                  <a:cubicBezTo>
                    <a:pt x="0" y="91505"/>
                    <a:pt x="13120" y="59830"/>
                    <a:pt x="36475" y="36475"/>
                  </a:cubicBezTo>
                  <a:cubicBezTo>
                    <a:pt x="59830" y="13120"/>
                    <a:pt x="91505" y="0"/>
                    <a:pt x="12453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1637330" cy="3472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3871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1475" y="6241276"/>
            <a:ext cx="5804270" cy="993110"/>
            <a:chOff x="0" y="0"/>
            <a:chExt cx="1528697" cy="2615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8697" cy="261560"/>
            </a:xfrm>
            <a:custGeom>
              <a:avLst/>
              <a:gdLst/>
              <a:ahLst/>
              <a:cxnLst/>
              <a:rect l="l" t="t" r="r" b="b"/>
              <a:pathLst>
                <a:path w="1528697" h="261560">
                  <a:moveTo>
                    <a:pt x="130780" y="0"/>
                  </a:moveTo>
                  <a:lnTo>
                    <a:pt x="1397917" y="0"/>
                  </a:lnTo>
                  <a:cubicBezTo>
                    <a:pt x="1432602" y="0"/>
                    <a:pt x="1465866" y="13779"/>
                    <a:pt x="1490392" y="38305"/>
                  </a:cubicBezTo>
                  <a:cubicBezTo>
                    <a:pt x="1514918" y="62831"/>
                    <a:pt x="1528697" y="96095"/>
                    <a:pt x="1528697" y="130780"/>
                  </a:cubicBezTo>
                  <a:lnTo>
                    <a:pt x="1528697" y="130780"/>
                  </a:lnTo>
                  <a:cubicBezTo>
                    <a:pt x="1528697" y="203008"/>
                    <a:pt x="1470145" y="261560"/>
                    <a:pt x="1397917" y="261560"/>
                  </a:cubicBezTo>
                  <a:lnTo>
                    <a:pt x="130780" y="261560"/>
                  </a:lnTo>
                  <a:cubicBezTo>
                    <a:pt x="96095" y="261560"/>
                    <a:pt x="62831" y="247781"/>
                    <a:pt x="38305" y="223255"/>
                  </a:cubicBezTo>
                  <a:cubicBezTo>
                    <a:pt x="13779" y="198729"/>
                    <a:pt x="0" y="165465"/>
                    <a:pt x="0" y="130780"/>
                  </a:cubicBezTo>
                  <a:lnTo>
                    <a:pt x="0" y="130780"/>
                  </a:lnTo>
                  <a:cubicBezTo>
                    <a:pt x="0" y="96095"/>
                    <a:pt x="13779" y="62831"/>
                    <a:pt x="38305" y="38305"/>
                  </a:cubicBezTo>
                  <a:cubicBezTo>
                    <a:pt x="62831" y="13779"/>
                    <a:pt x="96095" y="0"/>
                    <a:pt x="130780" y="0"/>
                  </a:cubicBezTo>
                  <a:close/>
                </a:path>
              </a:pathLst>
            </a:custGeom>
            <a:solidFill>
              <a:srgbClr val="D5B4FB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1528697" cy="3472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3871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13174" y="8031101"/>
            <a:ext cx="5804270" cy="993110"/>
            <a:chOff x="0" y="0"/>
            <a:chExt cx="1528697" cy="2615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28697" cy="261560"/>
            </a:xfrm>
            <a:custGeom>
              <a:avLst/>
              <a:gdLst/>
              <a:ahLst/>
              <a:cxnLst/>
              <a:rect l="l" t="t" r="r" b="b"/>
              <a:pathLst>
                <a:path w="1528697" h="261560">
                  <a:moveTo>
                    <a:pt x="130780" y="0"/>
                  </a:moveTo>
                  <a:lnTo>
                    <a:pt x="1397917" y="0"/>
                  </a:lnTo>
                  <a:cubicBezTo>
                    <a:pt x="1432602" y="0"/>
                    <a:pt x="1465866" y="13779"/>
                    <a:pt x="1490392" y="38305"/>
                  </a:cubicBezTo>
                  <a:cubicBezTo>
                    <a:pt x="1514918" y="62831"/>
                    <a:pt x="1528697" y="96095"/>
                    <a:pt x="1528697" y="130780"/>
                  </a:cubicBezTo>
                  <a:lnTo>
                    <a:pt x="1528697" y="130780"/>
                  </a:lnTo>
                  <a:cubicBezTo>
                    <a:pt x="1528697" y="203008"/>
                    <a:pt x="1470145" y="261560"/>
                    <a:pt x="1397917" y="261560"/>
                  </a:cubicBezTo>
                  <a:lnTo>
                    <a:pt x="130780" y="261560"/>
                  </a:lnTo>
                  <a:cubicBezTo>
                    <a:pt x="96095" y="261560"/>
                    <a:pt x="62831" y="247781"/>
                    <a:pt x="38305" y="223255"/>
                  </a:cubicBezTo>
                  <a:cubicBezTo>
                    <a:pt x="13779" y="198729"/>
                    <a:pt x="0" y="165465"/>
                    <a:pt x="0" y="130780"/>
                  </a:cubicBezTo>
                  <a:lnTo>
                    <a:pt x="0" y="130780"/>
                  </a:lnTo>
                  <a:cubicBezTo>
                    <a:pt x="0" y="96095"/>
                    <a:pt x="13779" y="62831"/>
                    <a:pt x="38305" y="38305"/>
                  </a:cubicBezTo>
                  <a:cubicBezTo>
                    <a:pt x="62831" y="13779"/>
                    <a:pt x="96095" y="0"/>
                    <a:pt x="13078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1528697" cy="3472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3871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5400000">
            <a:off x="3387481" y="1895821"/>
            <a:ext cx="808039" cy="665444"/>
            <a:chOff x="0" y="0"/>
            <a:chExt cx="647700" cy="533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9787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0650" y="98425"/>
              <a:ext cx="527050" cy="269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188309" y="8549327"/>
            <a:ext cx="2756406" cy="49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9"/>
              </a:lnSpc>
            </a:pPr>
            <a:r>
              <a:rPr lang="en-US" sz="2555" spc="-9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275204" y="8549327"/>
            <a:ext cx="2456172" cy="49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555" b="1" spc="-92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E-Commerce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4244" y="814435"/>
            <a:ext cx="4994512" cy="90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51"/>
              </a:lnSpc>
            </a:pPr>
            <a:r>
              <a:rPr lang="en-US" sz="4732" b="1" spc="-265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94244" y="2613289"/>
            <a:ext cx="4994512" cy="90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51"/>
              </a:lnSpc>
            </a:pPr>
            <a:r>
              <a:rPr lang="en-US" sz="4732" b="1" spc="-265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9701" y="4412144"/>
            <a:ext cx="6216738" cy="90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51"/>
              </a:lnSpc>
            </a:pPr>
            <a:r>
              <a:rPr lang="en-US" sz="4732" b="1" spc="-265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Analysis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7964" y="6210999"/>
            <a:ext cx="5295640" cy="90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51"/>
              </a:lnSpc>
            </a:pPr>
            <a:r>
              <a:rPr lang="en-US" sz="4732" b="1" spc="-265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Design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94244" y="8009854"/>
            <a:ext cx="4994512" cy="90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51"/>
              </a:lnSpc>
            </a:pPr>
            <a:r>
              <a:rPr lang="en-US" sz="4732" b="1" spc="-265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Insights &amp; Report</a:t>
            </a:r>
          </a:p>
        </p:txBody>
      </p:sp>
      <p:grpSp>
        <p:nvGrpSpPr>
          <p:cNvPr id="40" name="Group 40"/>
          <p:cNvGrpSpPr/>
          <p:nvPr/>
        </p:nvGrpSpPr>
        <p:grpSpPr>
          <a:xfrm rot="-5400000">
            <a:off x="3387481" y="3714709"/>
            <a:ext cx="808039" cy="665444"/>
            <a:chOff x="0" y="0"/>
            <a:chExt cx="647700" cy="533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9787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0650" y="98425"/>
              <a:ext cx="527050" cy="269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 rot="-5400000">
            <a:off x="3387481" y="5533596"/>
            <a:ext cx="808039" cy="665444"/>
            <a:chOff x="0" y="0"/>
            <a:chExt cx="647700" cy="533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9787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0650" y="98425"/>
              <a:ext cx="527050" cy="269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 rot="-5400000">
            <a:off x="3387481" y="7352484"/>
            <a:ext cx="808039" cy="665444"/>
            <a:chOff x="0" y="0"/>
            <a:chExt cx="647700" cy="533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9787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0650" y="98425"/>
              <a:ext cx="527050" cy="269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188309" y="1781940"/>
            <a:ext cx="6398054" cy="523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sz="2998" spc="-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Analytical Framework &amp; Approach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0796688" y="4451450"/>
            <a:ext cx="5581407" cy="723352"/>
            <a:chOff x="0" y="0"/>
            <a:chExt cx="7441876" cy="964469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7441876" cy="964469"/>
              <a:chOff x="0" y="0"/>
              <a:chExt cx="690950" cy="89547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690950" cy="89547"/>
              </a:xfrm>
              <a:custGeom>
                <a:avLst/>
                <a:gdLst/>
                <a:ahLst/>
                <a:cxnLst/>
                <a:rect l="l" t="t" r="r" b="b"/>
                <a:pathLst>
                  <a:path w="690950" h="89547">
                    <a:moveTo>
                      <a:pt x="44774" y="0"/>
                    </a:moveTo>
                    <a:lnTo>
                      <a:pt x="646176" y="0"/>
                    </a:lnTo>
                    <a:cubicBezTo>
                      <a:pt x="658051" y="0"/>
                      <a:pt x="669439" y="4717"/>
                      <a:pt x="677836" y="13114"/>
                    </a:cubicBezTo>
                    <a:cubicBezTo>
                      <a:pt x="686232" y="21511"/>
                      <a:pt x="690950" y="32899"/>
                      <a:pt x="690950" y="44774"/>
                    </a:cubicBezTo>
                    <a:lnTo>
                      <a:pt x="690950" y="44774"/>
                    </a:lnTo>
                    <a:cubicBezTo>
                      <a:pt x="690950" y="69501"/>
                      <a:pt x="670904" y="89547"/>
                      <a:pt x="646176" y="89547"/>
                    </a:cubicBezTo>
                    <a:lnTo>
                      <a:pt x="44774" y="89547"/>
                    </a:lnTo>
                    <a:cubicBezTo>
                      <a:pt x="20046" y="89547"/>
                      <a:pt x="0" y="69501"/>
                      <a:pt x="0" y="44774"/>
                    </a:cubicBezTo>
                    <a:lnTo>
                      <a:pt x="0" y="44774"/>
                    </a:lnTo>
                    <a:cubicBezTo>
                      <a:pt x="0" y="20046"/>
                      <a:pt x="20046" y="0"/>
                      <a:pt x="4477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ln w="9525" cap="rnd">
                <a:solidFill>
                  <a:srgbClr val="34343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66675"/>
                <a:ext cx="690950" cy="1562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8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431842" y="135263"/>
              <a:ext cx="6578193" cy="598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4"/>
                </a:lnSpc>
              </a:pPr>
              <a:r>
                <a:rPr lang="en-US" sz="2506" b="1" spc="-90">
                  <a:solidFill>
                    <a:srgbClr val="34343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Steps Involve in Overall Process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76992" y="-564681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4895192" y="8769797"/>
            <a:ext cx="2968802" cy="977006"/>
          </a:xfrm>
          <a:custGeom>
            <a:avLst/>
            <a:gdLst/>
            <a:ahLst/>
            <a:cxnLst/>
            <a:rect l="l" t="t" r="r" b="b"/>
            <a:pathLst>
              <a:path w="2968802" h="977006">
                <a:moveTo>
                  <a:pt x="0" y="0"/>
                </a:moveTo>
                <a:lnTo>
                  <a:pt x="2968802" y="0"/>
                </a:lnTo>
                <a:lnTo>
                  <a:pt x="2968802" y="977006"/>
                </a:lnTo>
                <a:lnTo>
                  <a:pt x="0" y="977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2192311"/>
            <a:ext cx="13361338" cy="7554492"/>
          </a:xfrm>
          <a:custGeom>
            <a:avLst/>
            <a:gdLst/>
            <a:ahLst/>
            <a:cxnLst/>
            <a:rect l="l" t="t" r="r" b="b"/>
            <a:pathLst>
              <a:path w="13361338" h="7554492">
                <a:moveTo>
                  <a:pt x="0" y="0"/>
                </a:moveTo>
                <a:lnTo>
                  <a:pt x="13361338" y="0"/>
                </a:lnTo>
                <a:lnTo>
                  <a:pt x="13361338" y="7554492"/>
                </a:lnTo>
                <a:lnTo>
                  <a:pt x="0" y="7554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51" t="-35359" r="-51221" b="-115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417238" y="760596"/>
            <a:ext cx="1441436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500" b="1" spc="-54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1475" y="276911"/>
            <a:ext cx="8663259" cy="92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0"/>
              </a:lnSpc>
            </a:pPr>
            <a:r>
              <a:rPr lang="en-US" sz="5129" spc="-179">
                <a:solidFill>
                  <a:srgbClr val="D9E73C"/>
                </a:solidFill>
                <a:latin typeface="Poppins"/>
                <a:ea typeface="Poppins"/>
                <a:cs typeface="Poppins"/>
                <a:sym typeface="Poppins"/>
              </a:rPr>
              <a:t>Data Visualization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1475" y="779809"/>
            <a:ext cx="12463818" cy="1412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63"/>
              </a:lnSpc>
            </a:pPr>
            <a:r>
              <a:rPr lang="en-US" sz="7830" spc="-2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Executive Dashboard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76992" y="-564681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4895192" y="8769797"/>
            <a:ext cx="2968802" cy="977006"/>
          </a:xfrm>
          <a:custGeom>
            <a:avLst/>
            <a:gdLst/>
            <a:ahLst/>
            <a:cxnLst/>
            <a:rect l="l" t="t" r="r" b="b"/>
            <a:pathLst>
              <a:path w="2968802" h="977006">
                <a:moveTo>
                  <a:pt x="0" y="0"/>
                </a:moveTo>
                <a:lnTo>
                  <a:pt x="2968802" y="0"/>
                </a:lnTo>
                <a:lnTo>
                  <a:pt x="2968802" y="977006"/>
                </a:lnTo>
                <a:lnTo>
                  <a:pt x="0" y="977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2192311"/>
            <a:ext cx="13361338" cy="7436451"/>
          </a:xfrm>
          <a:custGeom>
            <a:avLst/>
            <a:gdLst/>
            <a:ahLst/>
            <a:cxnLst/>
            <a:rect l="l" t="t" r="r" b="b"/>
            <a:pathLst>
              <a:path w="13361338" h="7436451">
                <a:moveTo>
                  <a:pt x="0" y="0"/>
                </a:moveTo>
                <a:lnTo>
                  <a:pt x="13361338" y="0"/>
                </a:lnTo>
                <a:lnTo>
                  <a:pt x="13361338" y="7436451"/>
                </a:lnTo>
                <a:lnTo>
                  <a:pt x="0" y="7436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417238" y="760596"/>
            <a:ext cx="1441436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500" b="1" spc="-54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1475" y="276911"/>
            <a:ext cx="8663259" cy="92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0"/>
              </a:lnSpc>
            </a:pPr>
            <a:r>
              <a:rPr lang="en-US" sz="5129" spc="-179">
                <a:solidFill>
                  <a:srgbClr val="D9E73C"/>
                </a:solidFill>
                <a:latin typeface="Poppins"/>
                <a:ea typeface="Poppins"/>
                <a:cs typeface="Poppins"/>
                <a:sym typeface="Poppins"/>
              </a:rPr>
              <a:t>Data Visualization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1475" y="779809"/>
            <a:ext cx="13468563" cy="1412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63"/>
              </a:lnSpc>
            </a:pPr>
            <a:r>
              <a:rPr lang="en-US" sz="7830" spc="-2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&amp; Product Insights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76992" y="-564681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4895192" y="8769797"/>
            <a:ext cx="2968802" cy="977006"/>
          </a:xfrm>
          <a:custGeom>
            <a:avLst/>
            <a:gdLst/>
            <a:ahLst/>
            <a:cxnLst/>
            <a:rect l="l" t="t" r="r" b="b"/>
            <a:pathLst>
              <a:path w="2968802" h="977006">
                <a:moveTo>
                  <a:pt x="0" y="0"/>
                </a:moveTo>
                <a:lnTo>
                  <a:pt x="2968802" y="0"/>
                </a:lnTo>
                <a:lnTo>
                  <a:pt x="2968802" y="977006"/>
                </a:lnTo>
                <a:lnTo>
                  <a:pt x="0" y="977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2192311"/>
            <a:ext cx="13364804" cy="7477663"/>
          </a:xfrm>
          <a:custGeom>
            <a:avLst/>
            <a:gdLst/>
            <a:ahLst/>
            <a:cxnLst/>
            <a:rect l="l" t="t" r="r" b="b"/>
            <a:pathLst>
              <a:path w="13364804" h="7477663">
                <a:moveTo>
                  <a:pt x="0" y="0"/>
                </a:moveTo>
                <a:lnTo>
                  <a:pt x="13364804" y="0"/>
                </a:lnTo>
                <a:lnTo>
                  <a:pt x="13364804" y="7477663"/>
                </a:lnTo>
                <a:lnTo>
                  <a:pt x="0" y="7477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417238" y="760596"/>
            <a:ext cx="1441436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500" b="1" spc="-54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1475" y="276911"/>
            <a:ext cx="8663259" cy="92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0"/>
              </a:lnSpc>
            </a:pPr>
            <a:r>
              <a:rPr lang="en-US" sz="5129" spc="-179">
                <a:solidFill>
                  <a:srgbClr val="D9E73C"/>
                </a:solidFill>
                <a:latin typeface="Poppins"/>
                <a:ea typeface="Poppins"/>
                <a:cs typeface="Poppins"/>
                <a:sym typeface="Poppins"/>
              </a:rPr>
              <a:t>Data Visualization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1475" y="779809"/>
            <a:ext cx="12463818" cy="1412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63"/>
              </a:lnSpc>
            </a:pPr>
            <a:r>
              <a:rPr lang="en-US" sz="7830" spc="-2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Executive Dashboard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76992" y="-564681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417238" y="760596"/>
            <a:ext cx="1441436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500" b="1" spc="-54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1475" y="276911"/>
            <a:ext cx="8663259" cy="92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0"/>
              </a:lnSpc>
            </a:pPr>
            <a:r>
              <a:rPr lang="en-US" sz="5129" spc="-179">
                <a:solidFill>
                  <a:srgbClr val="D9E73C"/>
                </a:solidFill>
                <a:latin typeface="Poppins"/>
                <a:ea typeface="Poppins"/>
                <a:cs typeface="Poppins"/>
                <a:sym typeface="Poppins"/>
              </a:rPr>
              <a:t>Data Visualization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1475" y="779809"/>
            <a:ext cx="12463818" cy="1412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63"/>
              </a:lnSpc>
            </a:pPr>
            <a:r>
              <a:rPr lang="en-US" sz="7830" spc="-2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Executive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85293" y="8850612"/>
            <a:ext cx="6398054" cy="701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sz="3898" spc="-35">
                <a:solidFill>
                  <a:srgbClr val="D9E73C"/>
                </a:solidFill>
                <a:latin typeface="Poppins"/>
                <a:ea typeface="Poppins"/>
                <a:cs typeface="Poppins"/>
                <a:sym typeface="Poppins"/>
              </a:rPr>
              <a:t>tableau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DF2431-1D1C-12C7-3F12-A24ADD219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3" y="2211524"/>
            <a:ext cx="14554196" cy="6639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BE3E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90488" y="-448043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55672" y="28922"/>
            <a:ext cx="11376656" cy="1602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494"/>
              </a:lnSpc>
            </a:pPr>
            <a:r>
              <a:rPr lang="en-US" sz="8925" spc="-31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Results &amp; Key-Finding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15679" y="1875432"/>
            <a:ext cx="4228471" cy="3854125"/>
            <a:chOff x="0" y="0"/>
            <a:chExt cx="1322015" cy="12049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22015" cy="1204978"/>
            </a:xfrm>
            <a:custGeom>
              <a:avLst/>
              <a:gdLst/>
              <a:ahLst/>
              <a:cxnLst/>
              <a:rect l="l" t="t" r="r" b="b"/>
              <a:pathLst>
                <a:path w="1322015" h="1204978">
                  <a:moveTo>
                    <a:pt x="119009" y="0"/>
                  </a:moveTo>
                  <a:lnTo>
                    <a:pt x="1203006" y="0"/>
                  </a:lnTo>
                  <a:cubicBezTo>
                    <a:pt x="1234570" y="0"/>
                    <a:pt x="1264840" y="12538"/>
                    <a:pt x="1287158" y="34857"/>
                  </a:cubicBezTo>
                  <a:cubicBezTo>
                    <a:pt x="1309477" y="57175"/>
                    <a:pt x="1322015" y="87446"/>
                    <a:pt x="1322015" y="119009"/>
                  </a:cubicBezTo>
                  <a:lnTo>
                    <a:pt x="1322015" y="1085969"/>
                  </a:lnTo>
                  <a:cubicBezTo>
                    <a:pt x="1322015" y="1117532"/>
                    <a:pt x="1309477" y="1147802"/>
                    <a:pt x="1287158" y="1170121"/>
                  </a:cubicBezTo>
                  <a:cubicBezTo>
                    <a:pt x="1264840" y="1192439"/>
                    <a:pt x="1234570" y="1204978"/>
                    <a:pt x="1203006" y="1204978"/>
                  </a:cubicBezTo>
                  <a:lnTo>
                    <a:pt x="119009" y="1204978"/>
                  </a:lnTo>
                  <a:cubicBezTo>
                    <a:pt x="87446" y="1204978"/>
                    <a:pt x="57175" y="1192439"/>
                    <a:pt x="34857" y="1170121"/>
                  </a:cubicBezTo>
                  <a:cubicBezTo>
                    <a:pt x="12538" y="1147802"/>
                    <a:pt x="0" y="1117532"/>
                    <a:pt x="0" y="1085969"/>
                  </a:cubicBezTo>
                  <a:lnTo>
                    <a:pt x="0" y="119009"/>
                  </a:lnTo>
                  <a:cubicBezTo>
                    <a:pt x="0" y="87446"/>
                    <a:pt x="12538" y="57175"/>
                    <a:pt x="34857" y="34857"/>
                  </a:cubicBezTo>
                  <a:cubicBezTo>
                    <a:pt x="57175" y="12538"/>
                    <a:pt x="87446" y="0"/>
                    <a:pt x="1190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322015" cy="127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74804" y="2245641"/>
            <a:ext cx="3567056" cy="91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Electronics Dominates Sales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74804" y="3373607"/>
            <a:ext cx="3623892" cy="163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163" i="1" spc="-7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Electronics accounts for 56.47% of all sales ($3.26M), followed by Home at 18.37%. It is the clear revenue driver.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15679" y="5967682"/>
            <a:ext cx="4228471" cy="3854125"/>
            <a:chOff x="0" y="0"/>
            <a:chExt cx="1322015" cy="12049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22015" cy="1204978"/>
            </a:xfrm>
            <a:custGeom>
              <a:avLst/>
              <a:gdLst/>
              <a:ahLst/>
              <a:cxnLst/>
              <a:rect l="l" t="t" r="r" b="b"/>
              <a:pathLst>
                <a:path w="1322015" h="1204978">
                  <a:moveTo>
                    <a:pt x="119009" y="0"/>
                  </a:moveTo>
                  <a:lnTo>
                    <a:pt x="1203006" y="0"/>
                  </a:lnTo>
                  <a:cubicBezTo>
                    <a:pt x="1234570" y="0"/>
                    <a:pt x="1264840" y="12538"/>
                    <a:pt x="1287158" y="34857"/>
                  </a:cubicBezTo>
                  <a:cubicBezTo>
                    <a:pt x="1309477" y="57175"/>
                    <a:pt x="1322015" y="87446"/>
                    <a:pt x="1322015" y="119009"/>
                  </a:cubicBezTo>
                  <a:lnTo>
                    <a:pt x="1322015" y="1085969"/>
                  </a:lnTo>
                  <a:cubicBezTo>
                    <a:pt x="1322015" y="1117532"/>
                    <a:pt x="1309477" y="1147802"/>
                    <a:pt x="1287158" y="1170121"/>
                  </a:cubicBezTo>
                  <a:cubicBezTo>
                    <a:pt x="1264840" y="1192439"/>
                    <a:pt x="1234570" y="1204978"/>
                    <a:pt x="1203006" y="1204978"/>
                  </a:cubicBezTo>
                  <a:lnTo>
                    <a:pt x="119009" y="1204978"/>
                  </a:lnTo>
                  <a:cubicBezTo>
                    <a:pt x="87446" y="1204978"/>
                    <a:pt x="57175" y="1192439"/>
                    <a:pt x="34857" y="1170121"/>
                  </a:cubicBezTo>
                  <a:cubicBezTo>
                    <a:pt x="12538" y="1147802"/>
                    <a:pt x="0" y="1117532"/>
                    <a:pt x="0" y="1085969"/>
                  </a:cubicBezTo>
                  <a:lnTo>
                    <a:pt x="0" y="119009"/>
                  </a:lnTo>
                  <a:cubicBezTo>
                    <a:pt x="0" y="87446"/>
                    <a:pt x="12538" y="57175"/>
                    <a:pt x="34857" y="34857"/>
                  </a:cubicBezTo>
                  <a:cubicBezTo>
                    <a:pt x="57175" y="12538"/>
                    <a:pt x="87446" y="0"/>
                    <a:pt x="1190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322015" cy="127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474804" y="6337891"/>
            <a:ext cx="3567056" cy="91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Reasons Are Balanced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74804" y="7465857"/>
            <a:ext cx="3623892" cy="2048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163" i="1" spc="-7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Returns are nearly equally split: Not as Described (25.76%), Defective (25.24%), No Longer Needed (24.45%). No single cause dominates.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891282" y="1875432"/>
            <a:ext cx="4228471" cy="3854125"/>
            <a:chOff x="0" y="0"/>
            <a:chExt cx="1322015" cy="12049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22015" cy="1204978"/>
            </a:xfrm>
            <a:custGeom>
              <a:avLst/>
              <a:gdLst/>
              <a:ahLst/>
              <a:cxnLst/>
              <a:rect l="l" t="t" r="r" b="b"/>
              <a:pathLst>
                <a:path w="1322015" h="1204978">
                  <a:moveTo>
                    <a:pt x="119009" y="0"/>
                  </a:moveTo>
                  <a:lnTo>
                    <a:pt x="1203006" y="0"/>
                  </a:lnTo>
                  <a:cubicBezTo>
                    <a:pt x="1234570" y="0"/>
                    <a:pt x="1264840" y="12538"/>
                    <a:pt x="1287158" y="34857"/>
                  </a:cubicBezTo>
                  <a:cubicBezTo>
                    <a:pt x="1309477" y="57175"/>
                    <a:pt x="1322015" y="87446"/>
                    <a:pt x="1322015" y="119009"/>
                  </a:cubicBezTo>
                  <a:lnTo>
                    <a:pt x="1322015" y="1085969"/>
                  </a:lnTo>
                  <a:cubicBezTo>
                    <a:pt x="1322015" y="1117532"/>
                    <a:pt x="1309477" y="1147802"/>
                    <a:pt x="1287158" y="1170121"/>
                  </a:cubicBezTo>
                  <a:cubicBezTo>
                    <a:pt x="1264840" y="1192439"/>
                    <a:pt x="1234570" y="1204978"/>
                    <a:pt x="1203006" y="1204978"/>
                  </a:cubicBezTo>
                  <a:lnTo>
                    <a:pt x="119009" y="1204978"/>
                  </a:lnTo>
                  <a:cubicBezTo>
                    <a:pt x="87446" y="1204978"/>
                    <a:pt x="57175" y="1192439"/>
                    <a:pt x="34857" y="1170121"/>
                  </a:cubicBezTo>
                  <a:cubicBezTo>
                    <a:pt x="12538" y="1147802"/>
                    <a:pt x="0" y="1117532"/>
                    <a:pt x="0" y="1085969"/>
                  </a:cubicBezTo>
                  <a:lnTo>
                    <a:pt x="0" y="119009"/>
                  </a:lnTo>
                  <a:cubicBezTo>
                    <a:pt x="0" y="87446"/>
                    <a:pt x="12538" y="57175"/>
                    <a:pt x="34857" y="34857"/>
                  </a:cubicBezTo>
                  <a:cubicBezTo>
                    <a:pt x="57175" y="12538"/>
                    <a:pt x="87446" y="0"/>
                    <a:pt x="119009" y="0"/>
                  </a:cubicBezTo>
                  <a:close/>
                </a:path>
              </a:pathLst>
            </a:custGeom>
            <a:solidFill>
              <a:srgbClr val="D9E73C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322015" cy="127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50407" y="2245641"/>
            <a:ext cx="3567056" cy="91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Delivery Time: 4.8 Days Average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0407" y="3373607"/>
            <a:ext cx="3623892" cy="2048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163" i="1" spc="-7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Average delivery is consistent at ~4-8 days across all months. Peak returns occur around 5–6 delivery days.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891282" y="5967682"/>
            <a:ext cx="4228471" cy="3854125"/>
            <a:chOff x="0" y="0"/>
            <a:chExt cx="1322015" cy="120497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22015" cy="1204978"/>
            </a:xfrm>
            <a:custGeom>
              <a:avLst/>
              <a:gdLst/>
              <a:ahLst/>
              <a:cxnLst/>
              <a:rect l="l" t="t" r="r" b="b"/>
              <a:pathLst>
                <a:path w="1322015" h="1204978">
                  <a:moveTo>
                    <a:pt x="119009" y="0"/>
                  </a:moveTo>
                  <a:lnTo>
                    <a:pt x="1203006" y="0"/>
                  </a:lnTo>
                  <a:cubicBezTo>
                    <a:pt x="1234570" y="0"/>
                    <a:pt x="1264840" y="12538"/>
                    <a:pt x="1287158" y="34857"/>
                  </a:cubicBezTo>
                  <a:cubicBezTo>
                    <a:pt x="1309477" y="57175"/>
                    <a:pt x="1322015" y="87446"/>
                    <a:pt x="1322015" y="119009"/>
                  </a:cubicBezTo>
                  <a:lnTo>
                    <a:pt x="1322015" y="1085969"/>
                  </a:lnTo>
                  <a:cubicBezTo>
                    <a:pt x="1322015" y="1117532"/>
                    <a:pt x="1309477" y="1147802"/>
                    <a:pt x="1287158" y="1170121"/>
                  </a:cubicBezTo>
                  <a:cubicBezTo>
                    <a:pt x="1264840" y="1192439"/>
                    <a:pt x="1234570" y="1204978"/>
                    <a:pt x="1203006" y="1204978"/>
                  </a:cubicBezTo>
                  <a:lnTo>
                    <a:pt x="119009" y="1204978"/>
                  </a:lnTo>
                  <a:cubicBezTo>
                    <a:pt x="87446" y="1204978"/>
                    <a:pt x="57175" y="1192439"/>
                    <a:pt x="34857" y="1170121"/>
                  </a:cubicBezTo>
                  <a:cubicBezTo>
                    <a:pt x="12538" y="1147802"/>
                    <a:pt x="0" y="1117532"/>
                    <a:pt x="0" y="1085969"/>
                  </a:cubicBezTo>
                  <a:lnTo>
                    <a:pt x="0" y="119009"/>
                  </a:lnTo>
                  <a:cubicBezTo>
                    <a:pt x="0" y="87446"/>
                    <a:pt x="12538" y="57175"/>
                    <a:pt x="34857" y="34857"/>
                  </a:cubicBezTo>
                  <a:cubicBezTo>
                    <a:pt x="57175" y="12538"/>
                    <a:pt x="87446" y="0"/>
                    <a:pt x="119009" y="0"/>
                  </a:cubicBezTo>
                  <a:close/>
                </a:path>
              </a:pathLst>
            </a:custGeom>
            <a:solidFill>
              <a:srgbClr val="D9E73C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1322015" cy="127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250407" y="6337891"/>
            <a:ext cx="3567056" cy="91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South &amp; East Lead Returns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50407" y="7465857"/>
            <a:ext cx="3623892" cy="163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163" i="1" spc="-7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South region has the highest return count (0.43K), followed closely by East and North (both 0.41K).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1662677" y="1994494"/>
            <a:ext cx="4228471" cy="3854125"/>
            <a:chOff x="0" y="0"/>
            <a:chExt cx="1322015" cy="120497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22015" cy="1204978"/>
            </a:xfrm>
            <a:custGeom>
              <a:avLst/>
              <a:gdLst/>
              <a:ahLst/>
              <a:cxnLst/>
              <a:rect l="l" t="t" r="r" b="b"/>
              <a:pathLst>
                <a:path w="1322015" h="1204978">
                  <a:moveTo>
                    <a:pt x="119009" y="0"/>
                  </a:moveTo>
                  <a:lnTo>
                    <a:pt x="1203006" y="0"/>
                  </a:lnTo>
                  <a:cubicBezTo>
                    <a:pt x="1234570" y="0"/>
                    <a:pt x="1264840" y="12538"/>
                    <a:pt x="1287158" y="34857"/>
                  </a:cubicBezTo>
                  <a:cubicBezTo>
                    <a:pt x="1309477" y="57175"/>
                    <a:pt x="1322015" y="87446"/>
                    <a:pt x="1322015" y="119009"/>
                  </a:cubicBezTo>
                  <a:lnTo>
                    <a:pt x="1322015" y="1085969"/>
                  </a:lnTo>
                  <a:cubicBezTo>
                    <a:pt x="1322015" y="1117532"/>
                    <a:pt x="1309477" y="1147802"/>
                    <a:pt x="1287158" y="1170121"/>
                  </a:cubicBezTo>
                  <a:cubicBezTo>
                    <a:pt x="1264840" y="1192439"/>
                    <a:pt x="1234570" y="1204978"/>
                    <a:pt x="1203006" y="1204978"/>
                  </a:cubicBezTo>
                  <a:lnTo>
                    <a:pt x="119009" y="1204978"/>
                  </a:lnTo>
                  <a:cubicBezTo>
                    <a:pt x="87446" y="1204978"/>
                    <a:pt x="57175" y="1192439"/>
                    <a:pt x="34857" y="1170121"/>
                  </a:cubicBezTo>
                  <a:cubicBezTo>
                    <a:pt x="12538" y="1147802"/>
                    <a:pt x="0" y="1117532"/>
                    <a:pt x="0" y="1085969"/>
                  </a:cubicBezTo>
                  <a:lnTo>
                    <a:pt x="0" y="119009"/>
                  </a:lnTo>
                  <a:cubicBezTo>
                    <a:pt x="0" y="87446"/>
                    <a:pt x="12538" y="57175"/>
                    <a:pt x="34857" y="34857"/>
                  </a:cubicBezTo>
                  <a:cubicBezTo>
                    <a:pt x="57175" y="12538"/>
                    <a:pt x="87446" y="0"/>
                    <a:pt x="1190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1322015" cy="127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021802" y="2364703"/>
            <a:ext cx="3567056" cy="91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High Profit Rate: </a:t>
            </a:r>
          </a:p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84.9%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21802" y="3492669"/>
            <a:ext cx="3623892" cy="163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163" i="1" spc="-7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84.9% of all orders generate profit. Only 15.1% result in a loss — indicating a healthy but improvable margin.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1662677" y="6086745"/>
            <a:ext cx="4228471" cy="3854125"/>
            <a:chOff x="0" y="0"/>
            <a:chExt cx="1322015" cy="120497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22015" cy="1204978"/>
            </a:xfrm>
            <a:custGeom>
              <a:avLst/>
              <a:gdLst/>
              <a:ahLst/>
              <a:cxnLst/>
              <a:rect l="l" t="t" r="r" b="b"/>
              <a:pathLst>
                <a:path w="1322015" h="1204978">
                  <a:moveTo>
                    <a:pt x="119009" y="0"/>
                  </a:moveTo>
                  <a:lnTo>
                    <a:pt x="1203006" y="0"/>
                  </a:lnTo>
                  <a:cubicBezTo>
                    <a:pt x="1234570" y="0"/>
                    <a:pt x="1264840" y="12538"/>
                    <a:pt x="1287158" y="34857"/>
                  </a:cubicBezTo>
                  <a:cubicBezTo>
                    <a:pt x="1309477" y="57175"/>
                    <a:pt x="1322015" y="87446"/>
                    <a:pt x="1322015" y="119009"/>
                  </a:cubicBezTo>
                  <a:lnTo>
                    <a:pt x="1322015" y="1085969"/>
                  </a:lnTo>
                  <a:cubicBezTo>
                    <a:pt x="1322015" y="1117532"/>
                    <a:pt x="1309477" y="1147802"/>
                    <a:pt x="1287158" y="1170121"/>
                  </a:cubicBezTo>
                  <a:cubicBezTo>
                    <a:pt x="1264840" y="1192439"/>
                    <a:pt x="1234570" y="1204978"/>
                    <a:pt x="1203006" y="1204978"/>
                  </a:cubicBezTo>
                  <a:lnTo>
                    <a:pt x="119009" y="1204978"/>
                  </a:lnTo>
                  <a:cubicBezTo>
                    <a:pt x="87446" y="1204978"/>
                    <a:pt x="57175" y="1192439"/>
                    <a:pt x="34857" y="1170121"/>
                  </a:cubicBezTo>
                  <a:cubicBezTo>
                    <a:pt x="12538" y="1147802"/>
                    <a:pt x="0" y="1117532"/>
                    <a:pt x="0" y="1085969"/>
                  </a:cubicBezTo>
                  <a:lnTo>
                    <a:pt x="0" y="119009"/>
                  </a:lnTo>
                  <a:cubicBezTo>
                    <a:pt x="0" y="87446"/>
                    <a:pt x="12538" y="57175"/>
                    <a:pt x="34857" y="34857"/>
                  </a:cubicBezTo>
                  <a:cubicBezTo>
                    <a:pt x="57175" y="12538"/>
                    <a:pt x="87446" y="0"/>
                    <a:pt x="1190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1322015" cy="127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021802" y="6456954"/>
            <a:ext cx="3567056" cy="46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b="1" spc="-8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Adults Are Top Buyers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21802" y="7056282"/>
            <a:ext cx="3623892" cy="2458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163" i="1" spc="-7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The 25–44 age group (Adults) generates the highest sales (~$1M+). Female customers slightly outspend male customers.</a:t>
            </a:r>
          </a:p>
          <a:p>
            <a:pPr algn="l">
              <a:lnSpc>
                <a:spcPts val="3266"/>
              </a:lnSpc>
            </a:pPr>
            <a:endParaRPr lang="en-US" sz="2163" i="1" spc="-77">
              <a:solidFill>
                <a:srgbClr val="000000"/>
              </a:solidFill>
              <a:latin typeface="Poppins Light Italics"/>
              <a:ea typeface="Poppins Light Italics"/>
              <a:cs typeface="Poppins Light Italics"/>
              <a:sym typeface="Poppins Light Itali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BE3E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90488" y="-448043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5720" y="1356971"/>
            <a:ext cx="16205407" cy="8501273"/>
            <a:chOff x="0" y="0"/>
            <a:chExt cx="4268091" cy="22390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68091" cy="2239018"/>
            </a:xfrm>
            <a:custGeom>
              <a:avLst/>
              <a:gdLst/>
              <a:ahLst/>
              <a:cxnLst/>
              <a:rect l="l" t="t" r="r" b="b"/>
              <a:pathLst>
                <a:path w="4268091" h="2239018">
                  <a:moveTo>
                    <a:pt x="24365" y="0"/>
                  </a:moveTo>
                  <a:lnTo>
                    <a:pt x="4243726" y="0"/>
                  </a:lnTo>
                  <a:cubicBezTo>
                    <a:pt x="4257182" y="0"/>
                    <a:pt x="4268091" y="10908"/>
                    <a:pt x="4268091" y="24365"/>
                  </a:cubicBezTo>
                  <a:lnTo>
                    <a:pt x="4268091" y="2214654"/>
                  </a:lnTo>
                  <a:cubicBezTo>
                    <a:pt x="4268091" y="2221116"/>
                    <a:pt x="4265524" y="2227313"/>
                    <a:pt x="4260954" y="2231882"/>
                  </a:cubicBezTo>
                  <a:cubicBezTo>
                    <a:pt x="4256385" y="2236451"/>
                    <a:pt x="4250188" y="2239018"/>
                    <a:pt x="4243726" y="2239018"/>
                  </a:cubicBezTo>
                  <a:lnTo>
                    <a:pt x="24365" y="2239018"/>
                  </a:lnTo>
                  <a:cubicBezTo>
                    <a:pt x="17903" y="2239018"/>
                    <a:pt x="11705" y="2236451"/>
                    <a:pt x="7136" y="2231882"/>
                  </a:cubicBezTo>
                  <a:cubicBezTo>
                    <a:pt x="2567" y="2227313"/>
                    <a:pt x="0" y="2221116"/>
                    <a:pt x="0" y="2214654"/>
                  </a:cubicBezTo>
                  <a:lnTo>
                    <a:pt x="0" y="24365"/>
                  </a:lnTo>
                  <a:cubicBezTo>
                    <a:pt x="0" y="17903"/>
                    <a:pt x="2567" y="11705"/>
                    <a:pt x="7136" y="7136"/>
                  </a:cubicBezTo>
                  <a:cubicBezTo>
                    <a:pt x="11705" y="2567"/>
                    <a:pt x="17903" y="0"/>
                    <a:pt x="243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BE3E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268091" cy="2305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1592" y="657747"/>
            <a:ext cx="5600332" cy="1042759"/>
            <a:chOff x="0" y="0"/>
            <a:chExt cx="1518584" cy="28275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18584" cy="282754"/>
            </a:xfrm>
            <a:custGeom>
              <a:avLst/>
              <a:gdLst/>
              <a:ahLst/>
              <a:cxnLst/>
              <a:rect l="l" t="t" r="r" b="b"/>
              <a:pathLst>
                <a:path w="1518584" h="282754">
                  <a:moveTo>
                    <a:pt x="107827" y="0"/>
                  </a:moveTo>
                  <a:lnTo>
                    <a:pt x="1410756" y="0"/>
                  </a:lnTo>
                  <a:cubicBezTo>
                    <a:pt x="1439354" y="0"/>
                    <a:pt x="1466780" y="11360"/>
                    <a:pt x="1487002" y="31582"/>
                  </a:cubicBezTo>
                  <a:cubicBezTo>
                    <a:pt x="1507223" y="51804"/>
                    <a:pt x="1518584" y="79230"/>
                    <a:pt x="1518584" y="107827"/>
                  </a:cubicBezTo>
                  <a:lnTo>
                    <a:pt x="1518584" y="174927"/>
                  </a:lnTo>
                  <a:cubicBezTo>
                    <a:pt x="1518584" y="234478"/>
                    <a:pt x="1470308" y="282754"/>
                    <a:pt x="1410756" y="282754"/>
                  </a:cubicBezTo>
                  <a:lnTo>
                    <a:pt x="107827" y="282754"/>
                  </a:lnTo>
                  <a:cubicBezTo>
                    <a:pt x="48276" y="282754"/>
                    <a:pt x="0" y="234478"/>
                    <a:pt x="0" y="174927"/>
                  </a:cubicBezTo>
                  <a:lnTo>
                    <a:pt x="0" y="107827"/>
                  </a:lnTo>
                  <a:cubicBezTo>
                    <a:pt x="0" y="48276"/>
                    <a:pt x="48276" y="0"/>
                    <a:pt x="107827" y="0"/>
                  </a:cubicBezTo>
                  <a:close/>
                </a:path>
              </a:pathLst>
            </a:custGeom>
            <a:solidFill>
              <a:srgbClr val="343434"/>
            </a:solidFill>
            <a:ln w="19050" cap="rnd">
              <a:gradFill>
                <a:gsLst>
                  <a:gs pos="0">
                    <a:srgbClr val="DBE3E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518584" cy="34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12672" y="835535"/>
            <a:ext cx="4158172" cy="591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8"/>
              </a:lnSpc>
            </a:pPr>
            <a:r>
              <a:rPr lang="en-US" sz="3320" b="1" i="1" spc="-119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Recommendations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8351" y="2389263"/>
            <a:ext cx="3067067" cy="46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879" b="1" i="1" spc="-103">
                <a:solidFill>
                  <a:srgbClr val="34343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Reduce Returns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48213" y="2174672"/>
            <a:ext cx="10714606" cy="837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199" i="1" spc="-7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Improve product descriptions and images — 25.76% of returns are because the product was 'Not as Described'. Accurate listings directly cut refund costs.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8351" y="3527603"/>
            <a:ext cx="3067067" cy="91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879" b="1" i="1" spc="-103">
                <a:solidFill>
                  <a:srgbClr val="34343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Target South Region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8351" y="4825318"/>
            <a:ext cx="3067067" cy="91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879" b="1" i="1" spc="-103">
                <a:solidFill>
                  <a:srgbClr val="34343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Focus on Electronics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8351" y="6119272"/>
            <a:ext cx="3067067" cy="91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879" b="1" i="1" spc="-103">
                <a:solidFill>
                  <a:srgbClr val="34343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Loyalty for Adults </a:t>
            </a:r>
          </a:p>
          <a:p>
            <a:pPr algn="l">
              <a:lnSpc>
                <a:spcPts val="3541"/>
              </a:lnSpc>
            </a:pPr>
            <a:r>
              <a:rPr lang="en-US" sz="2879" b="1" i="1" spc="-103">
                <a:solidFill>
                  <a:srgbClr val="34343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(25-44)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8351" y="7414342"/>
            <a:ext cx="3067067" cy="91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879" b="1" i="1" spc="-103">
                <a:solidFill>
                  <a:srgbClr val="34343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Delivery Optimization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8351" y="8708854"/>
            <a:ext cx="3067067" cy="91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879" b="1" i="1" spc="-103">
                <a:solidFill>
                  <a:srgbClr val="34343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Loss-Order Review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48213" y="3470453"/>
            <a:ext cx="10714606" cy="837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199" i="1" spc="-7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South has the highest return count. Investigate supplier or logistics issues in this region. Consider regional promotions to win back customer confidence.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48213" y="4768168"/>
            <a:ext cx="10714606" cy="837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199" i="1" spc="-7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Electronics is 56% of revenue. Prioritize stock availability, quality control, and after-sales support for this category to protect the top revenue driver.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48213" y="6062680"/>
            <a:ext cx="10714606" cy="837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199" i="1" spc="-7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Adults generate the most sales. Launch loyalty programs, personalized offers, and subscription options targeting this age group.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48213" y="7357192"/>
            <a:ext cx="10714606" cy="837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199" i="1" spc="-7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Maintain or reduce the 4.8-day average delivery time. Offer express options for high-value electronics orders to reduce impatience-driven returns.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48213" y="8651704"/>
            <a:ext cx="10714606" cy="837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199" i="1" spc="-7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15.1% of orders result in loss. Analyze these orders by category and discount level — reduce deep discounts that don't recover costs.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80830"/>
            <a:ext cx="14621953" cy="125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6943" spc="-2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Tools &amp; Technologies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416377" y="-512244"/>
            <a:ext cx="9455247" cy="11118486"/>
            <a:chOff x="0" y="0"/>
            <a:chExt cx="12606995" cy="14824648"/>
          </a:xfrm>
        </p:grpSpPr>
        <p:sp>
          <p:nvSpPr>
            <p:cNvPr id="4" name="AutoShape 4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336971" y="1589952"/>
            <a:ext cx="2922329" cy="3629366"/>
            <a:chOff x="0" y="0"/>
            <a:chExt cx="1389824" cy="17260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89824" cy="1726082"/>
            </a:xfrm>
            <a:custGeom>
              <a:avLst/>
              <a:gdLst/>
              <a:ahLst/>
              <a:cxnLst/>
              <a:rect l="l" t="t" r="r" b="b"/>
              <a:pathLst>
                <a:path w="1389824" h="1726082">
                  <a:moveTo>
                    <a:pt x="135111" y="0"/>
                  </a:moveTo>
                  <a:lnTo>
                    <a:pt x="1254713" y="0"/>
                  </a:lnTo>
                  <a:cubicBezTo>
                    <a:pt x="1290547" y="0"/>
                    <a:pt x="1324913" y="14235"/>
                    <a:pt x="1350251" y="39573"/>
                  </a:cubicBezTo>
                  <a:cubicBezTo>
                    <a:pt x="1375589" y="64911"/>
                    <a:pt x="1389824" y="99277"/>
                    <a:pt x="1389824" y="135111"/>
                  </a:cubicBezTo>
                  <a:lnTo>
                    <a:pt x="1389824" y="1590971"/>
                  </a:lnTo>
                  <a:cubicBezTo>
                    <a:pt x="1389824" y="1626805"/>
                    <a:pt x="1375589" y="1661171"/>
                    <a:pt x="1350251" y="1686509"/>
                  </a:cubicBezTo>
                  <a:cubicBezTo>
                    <a:pt x="1324913" y="1711847"/>
                    <a:pt x="1290547" y="1726082"/>
                    <a:pt x="1254713" y="1726082"/>
                  </a:cubicBezTo>
                  <a:lnTo>
                    <a:pt x="135111" y="1726082"/>
                  </a:lnTo>
                  <a:cubicBezTo>
                    <a:pt x="99277" y="1726082"/>
                    <a:pt x="64911" y="1711847"/>
                    <a:pt x="39573" y="1686509"/>
                  </a:cubicBezTo>
                  <a:cubicBezTo>
                    <a:pt x="14235" y="1661171"/>
                    <a:pt x="0" y="1626805"/>
                    <a:pt x="0" y="1590971"/>
                  </a:cubicBezTo>
                  <a:lnTo>
                    <a:pt x="0" y="135111"/>
                  </a:lnTo>
                  <a:cubicBezTo>
                    <a:pt x="0" y="99277"/>
                    <a:pt x="14235" y="64911"/>
                    <a:pt x="39573" y="39573"/>
                  </a:cubicBezTo>
                  <a:cubicBezTo>
                    <a:pt x="64911" y="14235"/>
                    <a:pt x="99277" y="0"/>
                    <a:pt x="135111" y="0"/>
                  </a:cubicBezTo>
                  <a:close/>
                </a:path>
              </a:pathLst>
            </a:custGeom>
            <a:solidFill>
              <a:srgbClr val="343434"/>
            </a:soli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389824" cy="1792757"/>
            </a:xfrm>
            <a:prstGeom prst="rect">
              <a:avLst/>
            </a:prstGeom>
          </p:spPr>
          <p:txBody>
            <a:bodyPr lIns="31178" tIns="31178" rIns="31178" bIns="31178" rtlCol="0" anchor="ctr"/>
            <a:lstStyle/>
            <a:p>
              <a:pPr algn="ctr">
                <a:lnSpc>
                  <a:spcPts val="363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73253" y="1589952"/>
            <a:ext cx="2628774" cy="1735393"/>
            <a:chOff x="0" y="0"/>
            <a:chExt cx="1250213" cy="8253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0213" cy="825331"/>
            </a:xfrm>
            <a:custGeom>
              <a:avLst/>
              <a:gdLst/>
              <a:ahLst/>
              <a:cxnLst/>
              <a:rect l="l" t="t" r="r" b="b"/>
              <a:pathLst>
                <a:path w="1250213" h="825331">
                  <a:moveTo>
                    <a:pt x="150198" y="0"/>
                  </a:moveTo>
                  <a:lnTo>
                    <a:pt x="1100014" y="0"/>
                  </a:lnTo>
                  <a:cubicBezTo>
                    <a:pt x="1139849" y="0"/>
                    <a:pt x="1178053" y="15824"/>
                    <a:pt x="1206221" y="43992"/>
                  </a:cubicBezTo>
                  <a:cubicBezTo>
                    <a:pt x="1234388" y="72160"/>
                    <a:pt x="1250213" y="110363"/>
                    <a:pt x="1250213" y="150198"/>
                  </a:cubicBezTo>
                  <a:lnTo>
                    <a:pt x="1250213" y="675133"/>
                  </a:lnTo>
                  <a:cubicBezTo>
                    <a:pt x="1250213" y="758085"/>
                    <a:pt x="1182967" y="825331"/>
                    <a:pt x="1100014" y="825331"/>
                  </a:cubicBezTo>
                  <a:lnTo>
                    <a:pt x="150198" y="825331"/>
                  </a:lnTo>
                  <a:cubicBezTo>
                    <a:pt x="110363" y="825331"/>
                    <a:pt x="72160" y="809507"/>
                    <a:pt x="43992" y="781339"/>
                  </a:cubicBezTo>
                  <a:cubicBezTo>
                    <a:pt x="15824" y="753172"/>
                    <a:pt x="0" y="714968"/>
                    <a:pt x="0" y="675133"/>
                  </a:cubicBezTo>
                  <a:lnTo>
                    <a:pt x="0" y="150198"/>
                  </a:lnTo>
                  <a:cubicBezTo>
                    <a:pt x="0" y="110363"/>
                    <a:pt x="15824" y="72160"/>
                    <a:pt x="43992" y="43992"/>
                  </a:cubicBezTo>
                  <a:cubicBezTo>
                    <a:pt x="72160" y="15824"/>
                    <a:pt x="110363" y="0"/>
                    <a:pt x="150198" y="0"/>
                  </a:cubicBezTo>
                  <a:close/>
                </a:path>
              </a:pathLst>
            </a:custGeom>
            <a:solidFill>
              <a:srgbClr val="D5B4FB"/>
            </a:soli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250213" cy="892006"/>
            </a:xfrm>
            <a:prstGeom prst="rect">
              <a:avLst/>
            </a:prstGeom>
          </p:spPr>
          <p:txBody>
            <a:bodyPr lIns="31178" tIns="31178" rIns="31178" bIns="31178" rtlCol="0" anchor="ctr"/>
            <a:lstStyle/>
            <a:p>
              <a:pPr algn="ctr">
                <a:lnSpc>
                  <a:spcPts val="363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473253" y="3483925"/>
            <a:ext cx="2628774" cy="1735393"/>
            <a:chOff x="0" y="0"/>
            <a:chExt cx="1250213" cy="8253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0213" cy="825331"/>
            </a:xfrm>
            <a:custGeom>
              <a:avLst/>
              <a:gdLst/>
              <a:ahLst/>
              <a:cxnLst/>
              <a:rect l="l" t="t" r="r" b="b"/>
              <a:pathLst>
                <a:path w="1250213" h="825331">
                  <a:moveTo>
                    <a:pt x="150198" y="0"/>
                  </a:moveTo>
                  <a:lnTo>
                    <a:pt x="1100014" y="0"/>
                  </a:lnTo>
                  <a:cubicBezTo>
                    <a:pt x="1139849" y="0"/>
                    <a:pt x="1178053" y="15824"/>
                    <a:pt x="1206221" y="43992"/>
                  </a:cubicBezTo>
                  <a:cubicBezTo>
                    <a:pt x="1234388" y="72160"/>
                    <a:pt x="1250213" y="110363"/>
                    <a:pt x="1250213" y="150198"/>
                  </a:cubicBezTo>
                  <a:lnTo>
                    <a:pt x="1250213" y="675133"/>
                  </a:lnTo>
                  <a:cubicBezTo>
                    <a:pt x="1250213" y="758085"/>
                    <a:pt x="1182967" y="825331"/>
                    <a:pt x="1100014" y="825331"/>
                  </a:cubicBezTo>
                  <a:lnTo>
                    <a:pt x="150198" y="825331"/>
                  </a:lnTo>
                  <a:cubicBezTo>
                    <a:pt x="110363" y="825331"/>
                    <a:pt x="72160" y="809507"/>
                    <a:pt x="43992" y="781339"/>
                  </a:cubicBezTo>
                  <a:cubicBezTo>
                    <a:pt x="15824" y="753172"/>
                    <a:pt x="0" y="714968"/>
                    <a:pt x="0" y="675133"/>
                  </a:cubicBezTo>
                  <a:lnTo>
                    <a:pt x="0" y="150198"/>
                  </a:lnTo>
                  <a:cubicBezTo>
                    <a:pt x="0" y="110363"/>
                    <a:pt x="15824" y="72160"/>
                    <a:pt x="43992" y="43992"/>
                  </a:cubicBezTo>
                  <a:cubicBezTo>
                    <a:pt x="72160" y="15824"/>
                    <a:pt x="110363" y="0"/>
                    <a:pt x="1501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250213" cy="892006"/>
            </a:xfrm>
            <a:prstGeom prst="rect">
              <a:avLst/>
            </a:prstGeom>
          </p:spPr>
          <p:txBody>
            <a:bodyPr lIns="31178" tIns="31178" rIns="31178" bIns="31178" rtlCol="0" anchor="ctr"/>
            <a:lstStyle/>
            <a:p>
              <a:pPr algn="ctr">
                <a:lnSpc>
                  <a:spcPts val="3637"/>
                </a:lnSpc>
              </a:pPr>
              <a:endParaRPr/>
            </a:p>
          </p:txBody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0067" y="1949255"/>
            <a:ext cx="3370073" cy="3369411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758" y="2008850"/>
            <a:ext cx="2660142" cy="139122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0758" y="3877457"/>
            <a:ext cx="2660142" cy="1391222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11473253" y="5381243"/>
            <a:ext cx="5786047" cy="3861503"/>
            <a:chOff x="0" y="0"/>
            <a:chExt cx="2447280" cy="16332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47280" cy="1633271"/>
            </a:xfrm>
            <a:custGeom>
              <a:avLst/>
              <a:gdLst/>
              <a:ahLst/>
              <a:cxnLst/>
              <a:rect l="l" t="t" r="r" b="b"/>
              <a:pathLst>
                <a:path w="2447280" h="1633271">
                  <a:moveTo>
                    <a:pt x="68240" y="0"/>
                  </a:moveTo>
                  <a:lnTo>
                    <a:pt x="2379041" y="0"/>
                  </a:lnTo>
                  <a:cubicBezTo>
                    <a:pt x="2397139" y="0"/>
                    <a:pt x="2414496" y="7190"/>
                    <a:pt x="2427294" y="19987"/>
                  </a:cubicBezTo>
                  <a:cubicBezTo>
                    <a:pt x="2440091" y="32784"/>
                    <a:pt x="2447280" y="50141"/>
                    <a:pt x="2447280" y="68240"/>
                  </a:cubicBezTo>
                  <a:lnTo>
                    <a:pt x="2447280" y="1565031"/>
                  </a:lnTo>
                  <a:cubicBezTo>
                    <a:pt x="2447280" y="1583129"/>
                    <a:pt x="2440091" y="1600487"/>
                    <a:pt x="2427294" y="1613284"/>
                  </a:cubicBezTo>
                  <a:cubicBezTo>
                    <a:pt x="2414496" y="1626081"/>
                    <a:pt x="2397139" y="1633271"/>
                    <a:pt x="2379041" y="1633271"/>
                  </a:cubicBezTo>
                  <a:lnTo>
                    <a:pt x="68240" y="1633271"/>
                  </a:lnTo>
                  <a:cubicBezTo>
                    <a:pt x="50141" y="1633271"/>
                    <a:pt x="32784" y="1626081"/>
                    <a:pt x="19987" y="1613284"/>
                  </a:cubicBezTo>
                  <a:cubicBezTo>
                    <a:pt x="7190" y="1600487"/>
                    <a:pt x="0" y="1583129"/>
                    <a:pt x="0" y="1565031"/>
                  </a:cubicBezTo>
                  <a:lnTo>
                    <a:pt x="0" y="68240"/>
                  </a:lnTo>
                  <a:cubicBezTo>
                    <a:pt x="0" y="50141"/>
                    <a:pt x="7190" y="32784"/>
                    <a:pt x="19987" y="19987"/>
                  </a:cubicBezTo>
                  <a:cubicBezTo>
                    <a:pt x="32784" y="7190"/>
                    <a:pt x="50141" y="0"/>
                    <a:pt x="682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DBE3EB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79787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2447280" cy="1699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5247" y="5024629"/>
            <a:ext cx="6257849" cy="4514730"/>
          </a:xfrm>
          <a:prstGeom prst="rect">
            <a:avLst/>
          </a:prstGeom>
        </p:spPr>
      </p:pic>
      <p:sp>
        <p:nvSpPr>
          <p:cNvPr id="23" name="Freeform 23"/>
          <p:cNvSpPr/>
          <p:nvPr/>
        </p:nvSpPr>
        <p:spPr>
          <a:xfrm>
            <a:off x="1857150" y="1936658"/>
            <a:ext cx="7286850" cy="3643425"/>
          </a:xfrm>
          <a:custGeom>
            <a:avLst/>
            <a:gdLst/>
            <a:ahLst/>
            <a:cxnLst/>
            <a:rect l="l" t="t" r="r" b="b"/>
            <a:pathLst>
              <a:path w="7286850" h="3643425">
                <a:moveTo>
                  <a:pt x="0" y="0"/>
                </a:moveTo>
                <a:lnTo>
                  <a:pt x="7286850" y="0"/>
                </a:lnTo>
                <a:lnTo>
                  <a:pt x="7286850" y="3643425"/>
                </a:lnTo>
                <a:lnTo>
                  <a:pt x="0" y="3643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4574588" y="1715542"/>
            <a:ext cx="2463771" cy="300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661" b="1" spc="-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Lead Generation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711340" y="1715542"/>
            <a:ext cx="2463771" cy="300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661" b="1" spc="-5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Conversion Rates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711340" y="3584149"/>
            <a:ext cx="2463771" cy="300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661" b="1" spc="-5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Retention and Upsell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09091" y="5875358"/>
            <a:ext cx="4275987" cy="504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4996" lvl="1" indent="-287498" algn="l">
              <a:lnSpc>
                <a:spcPts val="4021"/>
              </a:lnSpc>
              <a:buFont typeface="Arial"/>
              <a:buChar char="•"/>
            </a:pPr>
            <a:r>
              <a:rPr lang="en-US" sz="2663" b="1" i="1" spc="-9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SQL Query Language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24587" y="5875358"/>
            <a:ext cx="4275987" cy="2524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4996" lvl="1" indent="-287498" algn="just">
              <a:lnSpc>
                <a:spcPts val="4021"/>
              </a:lnSpc>
              <a:buFont typeface="Arial"/>
              <a:buChar char="•"/>
            </a:pPr>
            <a:r>
              <a:rPr lang="en-US" sz="2663" b="1" i="1" spc="-9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Power Query (M)</a:t>
            </a:r>
          </a:p>
          <a:p>
            <a:pPr algn="just">
              <a:lnSpc>
                <a:spcPts val="4021"/>
              </a:lnSpc>
            </a:pPr>
            <a:r>
              <a:rPr lang="en-US" sz="2663" b="1" i="1" spc="-9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       </a:t>
            </a:r>
            <a:r>
              <a:rPr lang="en-US" sz="2663" i="1" spc="-9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Data Transformation</a:t>
            </a:r>
          </a:p>
          <a:p>
            <a:pPr marL="574996" lvl="1" indent="-287498" algn="just">
              <a:lnSpc>
                <a:spcPts val="4021"/>
              </a:lnSpc>
              <a:buFont typeface="Arial"/>
              <a:buChar char="•"/>
            </a:pPr>
            <a:r>
              <a:rPr lang="en-US" sz="2663" b="1" i="1" spc="-9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DAX (Data Analysis)</a:t>
            </a:r>
          </a:p>
          <a:p>
            <a:pPr algn="just">
              <a:lnSpc>
                <a:spcPts val="4021"/>
              </a:lnSpc>
            </a:pPr>
            <a:r>
              <a:rPr lang="en-US" sz="2663" b="1" i="1" spc="-9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       </a:t>
            </a:r>
            <a:r>
              <a:rPr lang="en-US" sz="2663" i="1" spc="-9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Calculate the Measure</a:t>
            </a:r>
          </a:p>
          <a:p>
            <a:pPr algn="just">
              <a:lnSpc>
                <a:spcPts val="4021"/>
              </a:lnSpc>
            </a:pPr>
            <a:r>
              <a:rPr lang="en-US" sz="2663" i="1" spc="-9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Fields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BE3E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90488" y="-448043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626262">
                      <a:alpha val="17000"/>
                    </a:srgbClr>
                  </a:gs>
                  <a:gs pos="25000">
                    <a:srgbClr val="C8C8C8">
                      <a:alpha val="17000"/>
                    </a:srgbClr>
                  </a:gs>
                  <a:gs pos="50000">
                    <a:srgbClr val="636363">
                      <a:alpha val="17000"/>
                    </a:srgbClr>
                  </a:gs>
                  <a:gs pos="75000">
                    <a:srgbClr val="C8C8C8">
                      <a:alpha val="17000"/>
                    </a:srgbClr>
                  </a:gs>
                  <a:gs pos="100000">
                    <a:srgbClr val="636363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5922" y="1655672"/>
            <a:ext cx="17284378" cy="8248475"/>
            <a:chOff x="0" y="0"/>
            <a:chExt cx="5403894" cy="257885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03894" cy="2578854"/>
            </a:xfrm>
            <a:custGeom>
              <a:avLst/>
              <a:gdLst/>
              <a:ahLst/>
              <a:cxnLst/>
              <a:rect l="l" t="t" r="r" b="b"/>
              <a:pathLst>
                <a:path w="5403894" h="2578854">
                  <a:moveTo>
                    <a:pt x="29114" y="0"/>
                  </a:moveTo>
                  <a:lnTo>
                    <a:pt x="5374780" y="0"/>
                  </a:lnTo>
                  <a:cubicBezTo>
                    <a:pt x="5390859" y="0"/>
                    <a:pt x="5403894" y="13035"/>
                    <a:pt x="5403894" y="29114"/>
                  </a:cubicBezTo>
                  <a:lnTo>
                    <a:pt x="5403894" y="2549740"/>
                  </a:lnTo>
                  <a:cubicBezTo>
                    <a:pt x="5403894" y="2557461"/>
                    <a:pt x="5400827" y="2564867"/>
                    <a:pt x="5395367" y="2570327"/>
                  </a:cubicBezTo>
                  <a:cubicBezTo>
                    <a:pt x="5389907" y="2575787"/>
                    <a:pt x="5382501" y="2578854"/>
                    <a:pt x="5374780" y="2578854"/>
                  </a:cubicBezTo>
                  <a:lnTo>
                    <a:pt x="29114" y="2578854"/>
                  </a:lnTo>
                  <a:cubicBezTo>
                    <a:pt x="13035" y="2578854"/>
                    <a:pt x="0" y="2565819"/>
                    <a:pt x="0" y="2549740"/>
                  </a:cubicBezTo>
                  <a:lnTo>
                    <a:pt x="0" y="29114"/>
                  </a:lnTo>
                  <a:cubicBezTo>
                    <a:pt x="0" y="21393"/>
                    <a:pt x="3067" y="13987"/>
                    <a:pt x="8527" y="8527"/>
                  </a:cubicBezTo>
                  <a:cubicBezTo>
                    <a:pt x="13987" y="3067"/>
                    <a:pt x="21393" y="0"/>
                    <a:pt x="2911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4343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5403894" cy="2645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973771" y="1821525"/>
            <a:ext cx="1275027" cy="1263436"/>
          </a:xfrm>
          <a:custGeom>
            <a:avLst/>
            <a:gdLst/>
            <a:ahLst/>
            <a:cxnLst/>
            <a:rect l="l" t="t" r="r" b="b"/>
            <a:pathLst>
              <a:path w="1275027" h="1263436">
                <a:moveTo>
                  <a:pt x="0" y="0"/>
                </a:moveTo>
                <a:lnTo>
                  <a:pt x="1275027" y="0"/>
                </a:lnTo>
                <a:lnTo>
                  <a:pt x="1275027" y="1263437"/>
                </a:lnTo>
                <a:lnTo>
                  <a:pt x="0" y="1263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3562265"/>
            <a:ext cx="5591134" cy="51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 b="1" spc="-1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Inconsistent Data Quality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156762"/>
            <a:ext cx="16230600" cy="43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263" b="1" spc="-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Challenge: </a:t>
            </a:r>
            <a:r>
              <a:rPr lang="en-US" sz="2263" spc="-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Raw data had missing values, mixed date formats, and inconsistent category names.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0390" y="30522"/>
            <a:ext cx="10087281" cy="141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86"/>
              </a:lnSpc>
            </a:pPr>
            <a:r>
              <a:rPr lang="en-US" sz="7847" spc="-274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Challenges Faced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667733"/>
            <a:ext cx="16230600" cy="43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263" b="1" spc="-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 </a:t>
            </a:r>
            <a:r>
              <a:rPr lang="en-US" sz="2263" spc="-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Power Query was used to standardize text, fill missing values with defaults, and parse dates correctly.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559703"/>
            <a:ext cx="7803945" cy="51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 b="1" spc="-1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Creating Accurate DAX Measures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152102"/>
            <a:ext cx="16230600" cy="43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263" b="1" spc="-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Challenge: </a:t>
            </a:r>
            <a:r>
              <a:rPr lang="en-US" sz="2263" spc="-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Calculating return rate, delivery averages, and profit margins required complex DAX formulas..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663073"/>
            <a:ext cx="16230600" cy="43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263" b="1" spc="-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 </a:t>
            </a:r>
            <a:r>
              <a:rPr lang="en-US" sz="2263" spc="-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 through many of the documentations and other resources to understand POWER BI formulas.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7555043"/>
            <a:ext cx="7803945" cy="51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 b="1" spc="-1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Relationships &amp; Model Design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8147442"/>
            <a:ext cx="16230600" cy="43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263" b="1" spc="-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Challenge: </a:t>
            </a:r>
            <a:r>
              <a:rPr lang="en-US" sz="2263" spc="-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Linking multiple tables (orders, returns, customers) required a correct star-schema model.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8658412"/>
            <a:ext cx="16230600" cy="43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263" b="1" spc="-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 </a:t>
            </a:r>
            <a:r>
              <a:rPr lang="en-US" sz="2263" spc="-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Designed a fact-dimension model with clear one-to-many relationships and avoided circular dependencies.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76992" y="-564681"/>
            <a:ext cx="9455247" cy="11118486"/>
            <a:chOff x="0" y="0"/>
            <a:chExt cx="12606995" cy="14824648"/>
          </a:xfrm>
        </p:grpSpPr>
        <p:sp>
          <p:nvSpPr>
            <p:cNvPr id="3" name="AutoShape 3"/>
            <p:cNvSpPr/>
            <p:nvPr/>
          </p:nvSpPr>
          <p:spPr>
            <a:xfrm>
              <a:off x="12600645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350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338016" y="0"/>
              <a:ext cx="0" cy="14824648"/>
            </a:xfrm>
            <a:prstGeom prst="line">
              <a:avLst/>
            </a:prstGeom>
            <a:ln w="12700" cap="flat">
              <a:gradFill>
                <a:gsLst>
                  <a:gs pos="0">
                    <a:srgbClr val="C8C8C8">
                      <a:alpha val="17000"/>
                    </a:srgbClr>
                  </a:gs>
                  <a:gs pos="25000">
                    <a:srgbClr val="636363">
                      <a:alpha val="17000"/>
                    </a:srgbClr>
                  </a:gs>
                  <a:gs pos="50000">
                    <a:srgbClr val="C8C8C8">
                      <a:alpha val="17000"/>
                    </a:srgbClr>
                  </a:gs>
                  <a:gs pos="75000">
                    <a:srgbClr val="636363">
                      <a:alpha val="17000"/>
                    </a:srgbClr>
                  </a:gs>
                  <a:gs pos="100000">
                    <a:srgbClr val="C8C8C8">
                      <a:alpha val="17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1475" y="1885728"/>
            <a:ext cx="16124832" cy="989621"/>
            <a:chOff x="0" y="0"/>
            <a:chExt cx="4246869" cy="2606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46869" cy="260641"/>
            </a:xfrm>
            <a:custGeom>
              <a:avLst/>
              <a:gdLst/>
              <a:ahLst/>
              <a:cxnLst/>
              <a:rect l="l" t="t" r="r" b="b"/>
              <a:pathLst>
                <a:path w="4246869" h="260641">
                  <a:moveTo>
                    <a:pt x="24486" y="0"/>
                  </a:moveTo>
                  <a:lnTo>
                    <a:pt x="4222383" y="0"/>
                  </a:lnTo>
                  <a:cubicBezTo>
                    <a:pt x="4235907" y="0"/>
                    <a:pt x="4246869" y="10963"/>
                    <a:pt x="4246869" y="24486"/>
                  </a:cubicBezTo>
                  <a:lnTo>
                    <a:pt x="4246869" y="236155"/>
                  </a:lnTo>
                  <a:cubicBezTo>
                    <a:pt x="4246869" y="249678"/>
                    <a:pt x="4235907" y="260641"/>
                    <a:pt x="4222383" y="260641"/>
                  </a:cubicBezTo>
                  <a:lnTo>
                    <a:pt x="24486" y="260641"/>
                  </a:lnTo>
                  <a:cubicBezTo>
                    <a:pt x="10963" y="260641"/>
                    <a:pt x="0" y="249678"/>
                    <a:pt x="0" y="236155"/>
                  </a:cubicBezTo>
                  <a:lnTo>
                    <a:pt x="0" y="24486"/>
                  </a:lnTo>
                  <a:cubicBezTo>
                    <a:pt x="0" y="10963"/>
                    <a:pt x="10963" y="0"/>
                    <a:pt x="24486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246869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1475" y="8738835"/>
            <a:ext cx="16124832" cy="989621"/>
            <a:chOff x="0" y="0"/>
            <a:chExt cx="4246869" cy="2606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46869" cy="260641"/>
            </a:xfrm>
            <a:custGeom>
              <a:avLst/>
              <a:gdLst/>
              <a:ahLst/>
              <a:cxnLst/>
              <a:rect l="l" t="t" r="r" b="b"/>
              <a:pathLst>
                <a:path w="4246869" h="260641">
                  <a:moveTo>
                    <a:pt x="24486" y="0"/>
                  </a:moveTo>
                  <a:lnTo>
                    <a:pt x="4222383" y="0"/>
                  </a:lnTo>
                  <a:cubicBezTo>
                    <a:pt x="4235907" y="0"/>
                    <a:pt x="4246869" y="10963"/>
                    <a:pt x="4246869" y="24486"/>
                  </a:cubicBezTo>
                  <a:lnTo>
                    <a:pt x="4246869" y="236155"/>
                  </a:lnTo>
                  <a:cubicBezTo>
                    <a:pt x="4246869" y="249678"/>
                    <a:pt x="4235907" y="260641"/>
                    <a:pt x="4222383" y="260641"/>
                  </a:cubicBezTo>
                  <a:lnTo>
                    <a:pt x="24486" y="260641"/>
                  </a:lnTo>
                  <a:cubicBezTo>
                    <a:pt x="10963" y="260641"/>
                    <a:pt x="0" y="249678"/>
                    <a:pt x="0" y="236155"/>
                  </a:cubicBezTo>
                  <a:lnTo>
                    <a:pt x="0" y="24486"/>
                  </a:lnTo>
                  <a:cubicBezTo>
                    <a:pt x="0" y="10963"/>
                    <a:pt x="10963" y="0"/>
                    <a:pt x="24486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246869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1475" y="3256350"/>
            <a:ext cx="16124832" cy="989621"/>
            <a:chOff x="0" y="0"/>
            <a:chExt cx="4246869" cy="2606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46869" cy="260641"/>
            </a:xfrm>
            <a:custGeom>
              <a:avLst/>
              <a:gdLst/>
              <a:ahLst/>
              <a:cxnLst/>
              <a:rect l="l" t="t" r="r" b="b"/>
              <a:pathLst>
                <a:path w="4246869" h="260641">
                  <a:moveTo>
                    <a:pt x="24486" y="0"/>
                  </a:moveTo>
                  <a:lnTo>
                    <a:pt x="4222383" y="0"/>
                  </a:lnTo>
                  <a:cubicBezTo>
                    <a:pt x="4235907" y="0"/>
                    <a:pt x="4246869" y="10963"/>
                    <a:pt x="4246869" y="24486"/>
                  </a:cubicBezTo>
                  <a:lnTo>
                    <a:pt x="4246869" y="236155"/>
                  </a:lnTo>
                  <a:cubicBezTo>
                    <a:pt x="4246869" y="249678"/>
                    <a:pt x="4235907" y="260641"/>
                    <a:pt x="4222383" y="260641"/>
                  </a:cubicBezTo>
                  <a:lnTo>
                    <a:pt x="24486" y="260641"/>
                  </a:lnTo>
                  <a:cubicBezTo>
                    <a:pt x="10963" y="260641"/>
                    <a:pt x="0" y="249678"/>
                    <a:pt x="0" y="236155"/>
                  </a:cubicBezTo>
                  <a:lnTo>
                    <a:pt x="0" y="24486"/>
                  </a:lnTo>
                  <a:cubicBezTo>
                    <a:pt x="0" y="10963"/>
                    <a:pt x="10963" y="0"/>
                    <a:pt x="24486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4246869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417238" y="760596"/>
            <a:ext cx="1441436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500" b="1" spc="-54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1475" y="-133326"/>
            <a:ext cx="7267021" cy="189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46"/>
              </a:lnSpc>
            </a:pPr>
            <a:r>
              <a:rPr lang="en-US" sz="10461" spc="-3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8520" y="1874761"/>
            <a:ext cx="2303184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34617" y="8727868"/>
            <a:ext cx="2303184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8520" y="3245383"/>
            <a:ext cx="2303184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1475" y="4626971"/>
            <a:ext cx="16124832" cy="989621"/>
            <a:chOff x="0" y="0"/>
            <a:chExt cx="4246869" cy="2606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46869" cy="260641"/>
            </a:xfrm>
            <a:custGeom>
              <a:avLst/>
              <a:gdLst/>
              <a:ahLst/>
              <a:cxnLst/>
              <a:rect l="l" t="t" r="r" b="b"/>
              <a:pathLst>
                <a:path w="4246869" h="260641">
                  <a:moveTo>
                    <a:pt x="24486" y="0"/>
                  </a:moveTo>
                  <a:lnTo>
                    <a:pt x="4222383" y="0"/>
                  </a:lnTo>
                  <a:cubicBezTo>
                    <a:pt x="4235907" y="0"/>
                    <a:pt x="4246869" y="10963"/>
                    <a:pt x="4246869" y="24486"/>
                  </a:cubicBezTo>
                  <a:lnTo>
                    <a:pt x="4246869" y="236155"/>
                  </a:lnTo>
                  <a:cubicBezTo>
                    <a:pt x="4246869" y="249678"/>
                    <a:pt x="4235907" y="260641"/>
                    <a:pt x="4222383" y="260641"/>
                  </a:cubicBezTo>
                  <a:lnTo>
                    <a:pt x="24486" y="260641"/>
                  </a:lnTo>
                  <a:cubicBezTo>
                    <a:pt x="10963" y="260641"/>
                    <a:pt x="0" y="249678"/>
                    <a:pt x="0" y="236155"/>
                  </a:cubicBezTo>
                  <a:lnTo>
                    <a:pt x="0" y="24486"/>
                  </a:lnTo>
                  <a:cubicBezTo>
                    <a:pt x="0" y="10963"/>
                    <a:pt x="10963" y="0"/>
                    <a:pt x="24486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4246869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1475" y="5997592"/>
            <a:ext cx="16124832" cy="989621"/>
            <a:chOff x="0" y="0"/>
            <a:chExt cx="4246869" cy="26064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46869" cy="260641"/>
            </a:xfrm>
            <a:custGeom>
              <a:avLst/>
              <a:gdLst/>
              <a:ahLst/>
              <a:cxnLst/>
              <a:rect l="l" t="t" r="r" b="b"/>
              <a:pathLst>
                <a:path w="4246869" h="260641">
                  <a:moveTo>
                    <a:pt x="24486" y="0"/>
                  </a:moveTo>
                  <a:lnTo>
                    <a:pt x="4222383" y="0"/>
                  </a:lnTo>
                  <a:cubicBezTo>
                    <a:pt x="4235907" y="0"/>
                    <a:pt x="4246869" y="10963"/>
                    <a:pt x="4246869" y="24486"/>
                  </a:cubicBezTo>
                  <a:lnTo>
                    <a:pt x="4246869" y="236155"/>
                  </a:lnTo>
                  <a:cubicBezTo>
                    <a:pt x="4246869" y="249678"/>
                    <a:pt x="4235907" y="260641"/>
                    <a:pt x="4222383" y="260641"/>
                  </a:cubicBezTo>
                  <a:lnTo>
                    <a:pt x="24486" y="260641"/>
                  </a:lnTo>
                  <a:cubicBezTo>
                    <a:pt x="10963" y="260641"/>
                    <a:pt x="0" y="249678"/>
                    <a:pt x="0" y="236155"/>
                  </a:cubicBezTo>
                  <a:lnTo>
                    <a:pt x="0" y="24486"/>
                  </a:lnTo>
                  <a:cubicBezTo>
                    <a:pt x="0" y="10963"/>
                    <a:pt x="10963" y="0"/>
                    <a:pt x="24486" y="0"/>
                  </a:cubicBezTo>
                  <a:close/>
                </a:path>
              </a:pathLst>
            </a:custGeom>
            <a:solidFill>
              <a:srgbClr val="D9E73C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4246869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1475" y="7368214"/>
            <a:ext cx="16124832" cy="989621"/>
            <a:chOff x="0" y="0"/>
            <a:chExt cx="4246869" cy="2606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46869" cy="260641"/>
            </a:xfrm>
            <a:custGeom>
              <a:avLst/>
              <a:gdLst/>
              <a:ahLst/>
              <a:cxnLst/>
              <a:rect l="l" t="t" r="r" b="b"/>
              <a:pathLst>
                <a:path w="4246869" h="260641">
                  <a:moveTo>
                    <a:pt x="24486" y="0"/>
                  </a:moveTo>
                  <a:lnTo>
                    <a:pt x="4222383" y="0"/>
                  </a:lnTo>
                  <a:cubicBezTo>
                    <a:pt x="4235907" y="0"/>
                    <a:pt x="4246869" y="10963"/>
                    <a:pt x="4246869" y="24486"/>
                  </a:cubicBezTo>
                  <a:lnTo>
                    <a:pt x="4246869" y="236155"/>
                  </a:lnTo>
                  <a:cubicBezTo>
                    <a:pt x="4246869" y="249678"/>
                    <a:pt x="4235907" y="260641"/>
                    <a:pt x="4222383" y="260641"/>
                  </a:cubicBezTo>
                  <a:lnTo>
                    <a:pt x="24486" y="260641"/>
                  </a:lnTo>
                  <a:cubicBezTo>
                    <a:pt x="10963" y="260641"/>
                    <a:pt x="0" y="249678"/>
                    <a:pt x="0" y="236155"/>
                  </a:cubicBezTo>
                  <a:lnTo>
                    <a:pt x="0" y="24486"/>
                  </a:lnTo>
                  <a:cubicBezTo>
                    <a:pt x="0" y="10963"/>
                    <a:pt x="10963" y="0"/>
                    <a:pt x="24486" y="0"/>
                  </a:cubicBezTo>
                  <a:close/>
                </a:path>
              </a:pathLst>
            </a:custGeom>
            <a:solidFill>
              <a:srgbClr val="343434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4246869" cy="327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678520" y="4616004"/>
            <a:ext cx="2303184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78520" y="5986625"/>
            <a:ext cx="2303184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78520" y="7357247"/>
            <a:ext cx="2303184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spc="-1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86209" y="1911464"/>
            <a:ext cx="13601995" cy="861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 3 fully interactive Power BI dashboards covering executive overview, customer insights, and returns analysis.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86209" y="3501161"/>
            <a:ext cx="1360199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Identified Electronics as the dominant revenue driver at 56.47% of total sales ($3.26M of $6M).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86209" y="4621293"/>
            <a:ext cx="13601995" cy="861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Discovered that return reasons are almost evenly distributed — no single fix will solve everything; a multi-pronged approach is needed.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86209" y="6245242"/>
            <a:ext cx="1360199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spc="-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Found that delivery time averages 4.8 days and correlates with return spikes at 5–6 days.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86209" y="7423922"/>
            <a:ext cx="13601995" cy="861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Revealed that 84.9% of orders are profitable — validating business health while identifying the 15.1% loss orders for review.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30112" y="8976960"/>
            <a:ext cx="13601995" cy="4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299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Provided 6 actionable business recommendations backed by data visualization.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1148</Words>
  <Application>Microsoft Office PowerPoint</Application>
  <PresentationFormat>Custom</PresentationFormat>
  <Paragraphs>189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Poppins Light</vt:lpstr>
      <vt:lpstr>Poppins Italics</vt:lpstr>
      <vt:lpstr>Poppins Bold</vt:lpstr>
      <vt:lpstr>Calibri</vt:lpstr>
      <vt:lpstr>Poppins</vt:lpstr>
      <vt:lpstr>Poppins Bold Italics</vt:lpstr>
      <vt:lpstr>Poppins Light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Student</dc:title>
  <dc:creator>Lenovo</dc:creator>
  <cp:lastModifiedBy>Aitsam Zulfiqar</cp:lastModifiedBy>
  <cp:revision>3</cp:revision>
  <dcterms:created xsi:type="dcterms:W3CDTF">2006-08-16T00:00:00Z</dcterms:created>
  <dcterms:modified xsi:type="dcterms:W3CDTF">2026-05-03T21:28:41Z</dcterms:modified>
  <dc:identifier>DAHIl3KxA6Q</dc:identifier>
</cp:coreProperties>
</file>